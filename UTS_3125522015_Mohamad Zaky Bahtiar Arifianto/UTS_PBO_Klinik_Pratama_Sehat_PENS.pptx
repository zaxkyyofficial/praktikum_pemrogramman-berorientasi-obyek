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endahuluan" id="{7749aa19-3b39-446f-2ef7-03e73674d816}">
          <p14:sldIdLst>
            <p14:sldId id="256"/>
          </p14:sldIdLst>
        </p14:section>
        <p14:section name="Perancangan" id="{591bbbfd-ba65-ad37-0e01-77e274da59ad}">
          <p14:sldIdLst>
            <p14:sldId id="257"/>
            <p14:sldId id="258"/>
          </p14:sldIdLst>
        </p14:section>
        <p14:section name="Implementasi" id="{db48ff0c-f250-9d4e-b16c-b72156bc773d}">
          <p14:sldIdLst>
            <p14:sldId id="259"/>
            <p14:sldId id="260"/>
          </p14:sldIdLst>
        </p14:section>
        <p14:section name="Penutup" id="{d6d09246-720a-5cac-4900-9e8e920643dc}">
          <p14:sldIdLst>
            <p14:sldId id="26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Selamat pagi Bapak Nirwana dan rekan-rekan sekalian. Saya Mohamad Zaky Bahtiar Arifianto, NRP 3125522015. Pada evaluasi Ujian Tengah Semester mata kuliah PBO ini, saya mengembangkan Sistem Informasi Klinik Pratama PENS untuk studi kasus Tipe B. Sistem ini dirancang untuk menyelesaikan persoalan administrasi medis mulai dari pendataan dokter dan perawat, pencatatan rekam medis pemeriksaan, hingga kalkulasi pembayaran kasir secara terintegrasi menggunakan arsitektur Java berstandar produksi. (00:00 - 00:25)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Masuk ke perancangan arsitektur, sistem ini memiliki diagram kelas yang memenuhi standar notasi formal UML. Hubungan Generalization diterapkan dari Dokter dan Perawat menuju superclass abstrak TenagaMedis. Keduanya juga merealisasikan interface PelayananKlinik untuk memastikan keseragaman kontrak layanan. Di sisi pelayanan, kelas Pasien berelasi dengan TenagaMedis melalui RekamMedis, yang kemudian menjadi dasar pembuatan faktur transaksi pada kelas TransaksiPembayaran. Relasi ini menjaga integritas data klinis tetap konsisten. (00:25 - 00:55)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Pilar enkapsulasi diterapkan secara ketat di mana tidak ada variabel instance yang berstatus publik. Setiap akses modifikasi data wajib melewati setter yang dipersenjatai validasi aturan bisnis. Sebagai contoh, jika kasir atau admin menginputkan usia pasien minus 15 tahun atau nama kosong, sistem langsung melempar IllegalArgumentException dan menolak perubahan data. Begitu pula pada tarif dokter dan jam lembur perawat yang tidak diperkenankan bernilai negatif. Hal ini menjamin status objek selalu berada dalam kondisi valid. (00:55 - 01:25)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Pada aspek pewarisan, TenagaMedis dijadikan abstract class karena di dunia nyata tidak ada petugas medis tanpa peran spesifik. Subclass Dokter dan Perawat mewarisi atribut umum melalui konstruktor superclass. Polimorfisme dinamis dibuktikan saat pemanggilan metode hitungBiayaLayanan melalui referensi interface PelayananKlinik. Ketika dipanggil pada objek Dokter, sistem menambahkan tarif konsultasi spesialis. Namun saat dipanggil pada objek Perawat, sistem menambahkan tarif jasa asuhan keperawatan. Seluruh proses dynamic binding ini berjalan otomatis pada saat runtime. (01:25 - 01:55)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Untuk lapisan persistensi, aplikasi terhubung ke database MySQL XAMPP db_klinik menggunakan driver JDBC Connector/J. Koneksi dikelola secara terpusat lewat Singleton Pattern pada DatabaseConnection. Seluruh manipulasi data dipisahkan dari logika bisnis menggunakan DAO Pattern dengan PreparedStatement untuk menangkal celah SQL Injection. Hubungan antar tabel diikat oleh Foreign Key ketat berskema Cascade, sehingga bila data induk diperbarui, data riwayat rekam medis dan transaksi kasir tetap tersinkronisasi sempurna. (01:55 - 02:25)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Terakhir, unsur kreativitas solusi diwujudkan dalam tiga fitur utama: kalkulasi diskon otomatis 50 persen bagi pasien BPJS, perhitungan insentif lembur perawat Rp 50.000 per jam, serta generator pencetakan struk kasir berformat termal resmi. Seluruh fungsionalitas ini dibungkus dalam antarmuka desktop Java Swing yang bersih dan interaktif melalui 5 panel tab navigasi. Seluruh kode sumber terbukti lulus kompilasi dan sukses mengeksekusi skenario uji objek. Demikian presentasi dari saya, terima kasih dan saya siap menerima masukan dari Bapak Dosen. (02:25 - 03:00)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005840"/>
            <a:ext cx="4937760" cy="182880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LIGH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502920"/>
            <a:ext cx="8229600" cy="64008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3" name="Text 0"/>
          <p:cNvSpPr/>
          <p:nvPr/>
        </p:nvSpPr>
        <p:spPr>
          <a:xfrm>
            <a:off x="457200" y="4773168"/>
            <a:ext cx="5486400" cy="256032"/>
          </a:xfrm>
          <a:prstGeom prst="rect">
            <a:avLst/>
          </a:prstGeom>
          <a:noFill/>
          <a:ln/>
        </p:spPr>
        <p:txBody>
          <a:bodyPr wrap="square" lIns="0" tIns="0" rIns="0" bIns="0" rtlCol="0" anchor="ctr"/>
          <a:lstStyle/>
          <a:p>
            <a:pPr indent="0" marL="0">
              <a:buNone/>
            </a:pPr>
            <a:r>
              <a:rPr lang="en-US" sz="1000" dirty="0">
                <a:solidFill>
                  <a:schemeClr val="accent4"/>
                </a:solidFill>
              </a:rPr>
              <a:t>UTS PBO  |  Klinik Pratama Sehat PENS</a:t>
            </a:r>
            <a:endParaRPr lang="en-US" sz="10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502920"/>
            <a:ext cx="8229600" cy="64008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3" name="Text 0"/>
          <p:cNvSpPr/>
          <p:nvPr/>
        </p:nvSpPr>
        <p:spPr>
          <a:xfrm>
            <a:off x="457200" y="4773168"/>
            <a:ext cx="5486400" cy="256032"/>
          </a:xfrm>
          <a:prstGeom prst="rect">
            <a:avLst/>
          </a:prstGeom>
          <a:noFill/>
          <a:ln/>
        </p:spPr>
        <p:txBody>
          <a:bodyPr wrap="square" lIns="0" tIns="0" rIns="0" bIns="0" rtlCol="0" anchor="ctr"/>
          <a:lstStyle/>
          <a:p>
            <a:pPr indent="0" marL="0">
              <a:buNone/>
            </a:pPr>
            <a:r>
              <a:rPr lang="en-US" sz="1000" dirty="0">
                <a:solidFill>
                  <a:schemeClr val="bg2"/>
                </a:solidFill>
              </a:rPr>
              <a:t>UTS PBO  |  Klinik Pratama Sehat PENS</a:t>
            </a:r>
            <a:endParaRPr lang="en-US" sz="10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594360"/>
            <a:ext cx="4937760" cy="274320"/>
          </a:xfrm>
          <a:prstGeom prst="rect">
            <a:avLst/>
          </a:prstGeom>
          <a:noFill/>
          <a:ln/>
        </p:spPr>
        <p:txBody>
          <a:bodyPr wrap="square" lIns="0" tIns="0" rIns="0" bIns="0" rtlCol="0" anchor="t"/>
          <a:lstStyle/>
          <a:p>
            <a:pPr algn="l" indent="0" marL="0">
              <a:buNone/>
            </a:pPr>
            <a:r>
              <a:rPr lang="en-US" sz="1100" b="1" spc="300" kern="0" dirty="0">
                <a:solidFill>
                  <a:schemeClr val="accent3"/>
                </a:solidFill>
              </a:rPr>
              <a:t>UJIAN TENGAH SEMESTER  |  PRAKTIKUM PBO</a:t>
            </a:r>
            <a:endParaRPr lang="en-US" sz="1100" dirty="0"/>
          </a:p>
        </p:txBody>
      </p:sp>
      <p:sp>
        <p:nvSpPr>
          <p:cNvPr id="3" name="Text 0"/>
          <p:cNvSpPr/>
          <p:nvPr>
            <p:ph idx="100" type="title" hasCustomPrompt="1"/>
          </p:nvPr>
        </p:nvSpPr>
        <p:spPr>
          <a:xfrm>
            <a:off x="548640" y="1005840"/>
            <a:ext cx="4937760" cy="1828800"/>
          </a:xfrm>
          <a:prstGeom prst="rect">
            <a:avLst/>
          </a:prstGeom>
          <a:noFill/>
          <a:ln/>
        </p:spPr>
        <p:txBody>
          <a:bodyPr wrap="square" lIns="0" tIns="0" rIns="0" bIns="0" rtlCol="0" anchor="t"/>
          <a:lstStyle/>
          <a:p>
            <a:pPr algn="l" indent="0" marL="0">
              <a:buNone/>
            </a:pPr>
            <a:r>
              <a:rPr lang="en-US" sz="3400" b="1" dirty="0">
                <a:solidFill>
                  <a:schemeClr val="bg1"/>
                </a:solidFill>
              </a:rPr>
              <a:t>Sistem Informasi &amp; Pelayanan Klinik Pratama Sehat PENS</a:t>
            </a:r>
            <a:endParaRPr lang="en-US" sz="3400" dirty="0"/>
          </a:p>
        </p:txBody>
      </p:sp>
      <p:sp>
        <p:nvSpPr>
          <p:cNvPr id="4" name="Text 2"/>
          <p:cNvSpPr txBox="1"/>
          <p:nvPr/>
        </p:nvSpPr>
        <p:spPr>
          <a:xfrm>
            <a:off x="548640" y="2880360"/>
            <a:ext cx="4937760" cy="320040"/>
          </a:xfrm>
          <a:prstGeom prst="rect">
            <a:avLst/>
          </a:prstGeom>
          <a:noFill/>
          <a:ln/>
        </p:spPr>
        <p:txBody>
          <a:bodyPr wrap="square" lIns="0" tIns="0" rIns="0" bIns="0" rtlCol="0" anchor="t"/>
          <a:lstStyle/>
          <a:p>
            <a:pPr algn="l" indent="0" marL="0">
              <a:buNone/>
            </a:pPr>
            <a:r>
              <a:rPr lang="en-US" sz="1500" dirty="0">
                <a:solidFill>
                  <a:schemeClr val="bg2"/>
                </a:solidFill>
              </a:rPr>
              <a:t>Studi Kasus Tipe B  |  Java OOP, MySQL, dan Java Swing</a:t>
            </a:r>
            <a:endParaRPr lang="en-US" sz="1500" dirty="0"/>
          </a:p>
        </p:txBody>
      </p:sp>
      <p:sp>
        <p:nvSpPr>
          <p:cNvPr id="5" name="Text 3"/>
          <p:cNvSpPr txBox="1"/>
          <p:nvPr/>
        </p:nvSpPr>
        <p:spPr>
          <a:xfrm>
            <a:off x="548640" y="3520440"/>
            <a:ext cx="4937760" cy="1188720"/>
          </a:xfrm>
          <a:prstGeom prst="rect">
            <a:avLst/>
          </a:prstGeom>
          <a:noFill/>
          <a:ln/>
        </p:spPr>
        <p:txBody>
          <a:bodyPr wrap="square" lIns="0" tIns="0" rIns="0" bIns="0" rtlCol="0" anchor="t"/>
          <a:lstStyle/>
          <a:p>
            <a:pPr algn="l" indent="0" marL="0">
              <a:buNone/>
            </a:pPr>
            <a:r>
              <a:rPr lang="en-US" sz="1600" b="1" dirty="0">
                <a:solidFill>
                  <a:schemeClr val="bg1"/>
                </a:solidFill>
              </a:rPr>
              <a:t>Mohamad Zaky Bahtiar Arifianto</a:t>
            </a:r>
            <a:endParaRPr lang="en-US" sz="1400" dirty="0"/>
          </a:p>
          <a:p>
            <a:pPr algn="l" indent="0" marL="0">
              <a:buNone/>
            </a:pPr>
            <a:r>
              <a:rPr lang="en-US" sz="1200" dirty="0">
                <a:solidFill>
                  <a:schemeClr val="bg2"/>
                </a:solidFill>
              </a:rPr>
              <a:t>NRP 3125522015  |  Kelas 3D3PSDKU-SM-IT A</a:t>
            </a:r>
            <a:endParaRPr lang="en-US" sz="1400" dirty="0"/>
          </a:p>
          <a:p>
            <a:pPr algn="l" indent="0" marL="0">
              <a:buNone/>
            </a:pPr>
            <a:r>
              <a:rPr lang="en-US" sz="1200" dirty="0">
                <a:solidFill>
                  <a:schemeClr val="bg2"/>
                </a:solidFill>
              </a:rPr>
              <a:t>D3 Teknik Informatika PENS PSDKU Sumenep</a:t>
            </a:r>
            <a:endParaRPr lang="en-US" sz="1400" dirty="0"/>
          </a:p>
          <a:p>
            <a:pPr algn="l" indent="0" marL="0">
              <a:buNone/>
            </a:pPr>
            <a:r>
              <a:rPr lang="en-US" sz="1200" dirty="0">
                <a:solidFill>
                  <a:schemeClr val="bg2"/>
                </a:solidFill>
              </a:rPr>
              <a:t>Dosen: Nirwana Haidar Hari, S.Pd., M.Kom.</a:t>
            </a:r>
            <a:endParaRPr lang="en-US" sz="1400" dirty="0"/>
          </a:p>
        </p:txBody>
      </p:sp>
      <p:sp>
        <p:nvSpPr>
          <p:cNvPr id="6" name="Kartu latar belakang"/>
          <p:cNvSpPr/>
          <p:nvPr/>
        </p:nvSpPr>
        <p:spPr>
          <a:xfrm>
            <a:off x="5852160" y="594360"/>
            <a:ext cx="2834640" cy="1965960"/>
          </a:xfrm>
          <a:prstGeom prst="roundRect">
            <a:avLst>
              <a:gd name="adj" fmla="val 4651"/>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7" name="Ikon latar belakang masalah badge"/>
          <p:cNvSpPr/>
          <p:nvPr/>
        </p:nvSpPr>
        <p:spPr>
          <a:xfrm>
            <a:off x="6053328" y="777240"/>
            <a:ext cx="457200" cy="457200"/>
          </a:xfrm>
          <a:prstGeom prst="ellipse">
            <a:avLst/>
          </a:prstGeom>
          <a:solidFill>
            <a:schemeClr val="accent2"/>
          </a:solidFill>
          <a:ln w="12700">
            <a:solidFill>
              <a:schemeClr val="accent2"/>
            </a:solidFill>
            <a:prstDash val="solid"/>
          </a:ln>
        </p:spPr>
      </p:sp>
      <p:pic>
        <p:nvPicPr>
          <p:cNvPr id="8" name="Ikon latar belakang masalah" descr="Ikon latar belakang masalah">    </p:cNvPr>
          <p:cNvPicPr>
            <a:picLocks noChangeAspect="1"/>
          </p:cNvPicPr>
          <p:nvPr/>
        </p:nvPicPr>
        <p:blipFill>
          <a:blip r:embed="rId1"/>
          <a:stretch>
            <a:fillRect/>
          </a:stretch>
        </p:blipFill>
        <p:spPr>
          <a:xfrm>
            <a:off x="6153912" y="877824"/>
            <a:ext cx="256032" cy="256032"/>
          </a:xfrm>
          <a:prstGeom prst="rect">
            <a:avLst/>
          </a:prstGeom>
        </p:spPr>
      </p:pic>
      <p:sp>
        <p:nvSpPr>
          <p:cNvPr id="9" name="Text 6"/>
          <p:cNvSpPr txBox="1"/>
          <p:nvPr/>
        </p:nvSpPr>
        <p:spPr>
          <a:xfrm>
            <a:off x="6629400" y="822960"/>
            <a:ext cx="1920240" cy="411480"/>
          </a:xfrm>
          <a:prstGeom prst="rect">
            <a:avLst/>
          </a:prstGeom>
          <a:noFill/>
          <a:ln/>
        </p:spPr>
        <p:txBody>
          <a:bodyPr wrap="square" lIns="0" tIns="0" rIns="0" bIns="0" rtlCol="0" anchor="ctr"/>
          <a:lstStyle/>
          <a:p>
            <a:pPr algn="l" indent="0" marL="0">
              <a:buNone/>
            </a:pPr>
            <a:r>
              <a:rPr lang="en-US" sz="1500" b="1" dirty="0">
                <a:solidFill>
                  <a:schemeClr val="tx2"/>
                </a:solidFill>
              </a:rPr>
              <a:t>Latar Belakang Masalah</a:t>
            </a:r>
            <a:endParaRPr lang="en-US" sz="1500" dirty="0"/>
          </a:p>
        </p:txBody>
      </p:sp>
      <p:sp>
        <p:nvSpPr>
          <p:cNvPr id="10" name="Text 7"/>
          <p:cNvSpPr txBox="1"/>
          <p:nvPr/>
        </p:nvSpPr>
        <p:spPr>
          <a:xfrm>
            <a:off x="6053328" y="1371600"/>
            <a:ext cx="2468880" cy="1097280"/>
          </a:xfrm>
          <a:prstGeom prst="rect">
            <a:avLst/>
          </a:prstGeom>
          <a:noFill/>
          <a:ln/>
        </p:spPr>
        <p:txBody>
          <a:bodyPr wrap="square" lIns="0" tIns="0" rIns="0" bIns="0" rtlCol="0" anchor="t"/>
          <a:lstStyle/>
          <a:p>
            <a:pPr algn="l" indent="0" marL="0">
              <a:buNone/>
            </a:pPr>
            <a:r>
              <a:rPr lang="en-US" sz="1400" dirty="0">
                <a:solidFill>
                  <a:schemeClr val="tx1"/>
                </a:solidFill>
              </a:rPr>
              <a:t>Klinik butuh standarisasi data tenaga kesehatan, riwayat rekam medis pasien, dan otomatisasi transaksi kasir.</a:t>
            </a:r>
            <a:endParaRPr lang="en-US" sz="1400" dirty="0"/>
          </a:p>
        </p:txBody>
      </p:sp>
      <p:sp>
        <p:nvSpPr>
          <p:cNvPr id="11" name="Kartu solusi rekayasa"/>
          <p:cNvSpPr/>
          <p:nvPr/>
        </p:nvSpPr>
        <p:spPr>
          <a:xfrm>
            <a:off x="5852160" y="2788920"/>
            <a:ext cx="2834640" cy="1965960"/>
          </a:xfrm>
          <a:prstGeom prst="roundRect">
            <a:avLst>
              <a:gd name="adj" fmla="val 4651"/>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12" name="Ikon solusi rekayasa badge"/>
          <p:cNvSpPr/>
          <p:nvPr/>
        </p:nvSpPr>
        <p:spPr>
          <a:xfrm>
            <a:off x="6053328" y="2971800"/>
            <a:ext cx="457200" cy="457200"/>
          </a:xfrm>
          <a:prstGeom prst="ellipse">
            <a:avLst/>
          </a:prstGeom>
          <a:solidFill>
            <a:schemeClr val="accent1"/>
          </a:solidFill>
          <a:ln w="12700">
            <a:solidFill>
              <a:schemeClr val="accent1"/>
            </a:solidFill>
            <a:prstDash val="solid"/>
          </a:ln>
        </p:spPr>
      </p:sp>
      <p:pic>
        <p:nvPicPr>
          <p:cNvPr id="13" name="Ikon solusi rekayasa" descr="Ikon solusi rekayasa">    </p:cNvPr>
          <p:cNvPicPr>
            <a:picLocks noChangeAspect="1"/>
          </p:cNvPicPr>
          <p:nvPr/>
        </p:nvPicPr>
        <p:blipFill>
          <a:blip r:embed="rId2"/>
          <a:stretch>
            <a:fillRect/>
          </a:stretch>
        </p:blipFill>
        <p:spPr>
          <a:xfrm>
            <a:off x="6153912" y="3072384"/>
            <a:ext cx="256032" cy="256032"/>
          </a:xfrm>
          <a:prstGeom prst="rect">
            <a:avLst/>
          </a:prstGeom>
        </p:spPr>
      </p:pic>
      <p:sp>
        <p:nvSpPr>
          <p:cNvPr id="14" name="Text 10"/>
          <p:cNvSpPr txBox="1"/>
          <p:nvPr/>
        </p:nvSpPr>
        <p:spPr>
          <a:xfrm>
            <a:off x="6629400" y="3017520"/>
            <a:ext cx="1920240" cy="411480"/>
          </a:xfrm>
          <a:prstGeom prst="rect">
            <a:avLst/>
          </a:prstGeom>
          <a:noFill/>
          <a:ln/>
        </p:spPr>
        <p:txBody>
          <a:bodyPr wrap="square" lIns="0" tIns="0" rIns="0" bIns="0" rtlCol="0" anchor="ctr"/>
          <a:lstStyle/>
          <a:p>
            <a:pPr algn="l" indent="0" marL="0">
              <a:buNone/>
            </a:pPr>
            <a:r>
              <a:rPr lang="en-US" sz="1500" b="1" dirty="0">
                <a:solidFill>
                  <a:schemeClr val="tx2"/>
                </a:solidFill>
              </a:rPr>
              <a:t>Solusi Rekayasa</a:t>
            </a:r>
            <a:endParaRPr lang="en-US" sz="1500" dirty="0"/>
          </a:p>
        </p:txBody>
      </p:sp>
      <p:sp>
        <p:nvSpPr>
          <p:cNvPr id="15" name="Text 11"/>
          <p:cNvSpPr txBox="1"/>
          <p:nvPr/>
        </p:nvSpPr>
        <p:spPr>
          <a:xfrm>
            <a:off x="6053328" y="3566160"/>
            <a:ext cx="2468880" cy="1097280"/>
          </a:xfrm>
          <a:prstGeom prst="rect">
            <a:avLst/>
          </a:prstGeom>
          <a:noFill/>
          <a:ln/>
        </p:spPr>
        <p:txBody>
          <a:bodyPr wrap="square" lIns="0" tIns="0" rIns="0" bIns="0" rtlCol="0" anchor="t"/>
          <a:lstStyle/>
          <a:p>
            <a:pPr algn="l" indent="0" marL="0">
              <a:buNone/>
            </a:pPr>
            <a:r>
              <a:rPr lang="en-US" sz="1400" dirty="0">
                <a:solidFill>
                  <a:schemeClr val="tx1"/>
                </a:solidFill>
              </a:rPr>
              <a:t>Aplikasi desktop Java berbasis OOP penuh, MySQL lewat pola DAO, dan antarmuka Java Swing.</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ag rubrik"/>
          <p:cNvSpPr txBox="1"/>
          <p:nvPr/>
        </p:nvSpPr>
        <p:spPr>
          <a:xfrm>
            <a:off x="457200" y="201168"/>
            <a:ext cx="1600200" cy="256032"/>
          </a:xfrm>
          <a:prstGeom prst="roundRect">
            <a:avLst>
              <a:gd name="adj" fmla="val 50000"/>
            </a:avLst>
          </a:prstGeom>
          <a:solidFill>
            <a:schemeClr val="accent1"/>
          </a:solidFill>
          <a:ln/>
        </p:spPr>
        <p:txBody>
          <a:bodyPr wrap="square" lIns="0" tIns="0" rIns="0" bIns="0" rtlCol="0" anchor="ctr"/>
          <a:lstStyle/>
          <a:p>
            <a:pPr algn="ctr" indent="0" marL="0">
              <a:buNone/>
            </a:pPr>
            <a:r>
              <a:rPr lang="en-US" sz="1000" b="1" spc="100" kern="0" dirty="0">
                <a:solidFill>
                  <a:schemeClr val="bg1"/>
                </a:solidFill>
              </a:rPr>
              <a:t>UML  |  BOBOT 20%</a:t>
            </a:r>
            <a:endParaRPr lang="en-US" sz="1000" dirty="0"/>
          </a:p>
        </p:txBody>
      </p:sp>
      <p:sp>
        <p:nvSpPr>
          <p:cNvPr id="3" name="Text 0"/>
          <p:cNvSpPr/>
          <p:nvPr>
            <p:ph idx="100" type="title" hasCustomPrompt="1"/>
          </p:nvPr>
        </p:nvSpPr>
        <p:spPr>
          <a:xfrm>
            <a:off x="457200" y="502920"/>
            <a:ext cx="8229600" cy="640080"/>
          </a:xfrm>
          <a:prstGeom prst="rect">
            <a:avLst/>
          </a:prstGeom>
          <a:noFill/>
          <a:ln/>
        </p:spPr>
        <p:txBody>
          <a:bodyPr wrap="square" lIns="0" tIns="0" rIns="0" bIns="0" rtlCol="0" anchor="ctr"/>
          <a:lstStyle/>
          <a:p>
            <a:pPr algn="l" indent="0" marL="0">
              <a:buNone/>
            </a:pPr>
            <a:r>
              <a:rPr lang="en-US" sz="3200" b="1" dirty="0">
                <a:solidFill>
                  <a:schemeClr val="tx2"/>
                </a:solidFill>
              </a:rPr>
              <a:t>Perancangan UML Class Diagram</a:t>
            </a:r>
            <a:endParaRPr lang="en-US" sz="3200" dirty="0"/>
          </a:p>
        </p:txBody>
      </p:sp>
      <p:sp>
        <p:nvSpPr>
          <p:cNvPr id="4" name="Panel hierarki"/>
          <p:cNvSpPr/>
          <p:nvPr/>
        </p:nvSpPr>
        <p:spPr>
          <a:xfrm>
            <a:off x="457200" y="1280160"/>
            <a:ext cx="5120640" cy="3337560"/>
          </a:xfrm>
          <a:prstGeom prst="roundRect">
            <a:avLst>
              <a:gd name="adj" fmla="val 2740"/>
            </a:avLst>
          </a:prstGeom>
          <a:solidFill>
            <a:schemeClr val="bg2"/>
          </a:solidFill>
          <a:ln w="12700">
            <a:solidFill>
              <a:schemeClr val="bg2"/>
            </a:solidFill>
            <a:prstDash val="solid"/>
          </a:ln>
        </p:spPr>
      </p:sp>
      <p:sp>
        <p:nvSpPr>
          <p:cNvPr id="5" name="Text 3"/>
          <p:cNvSpPr txBox="1"/>
          <p:nvPr/>
        </p:nvSpPr>
        <p:spPr>
          <a:xfrm>
            <a:off x="640080" y="1389888"/>
            <a:ext cx="2743200" cy="274320"/>
          </a:xfrm>
          <a:prstGeom prst="rect">
            <a:avLst/>
          </a:prstGeom>
          <a:noFill/>
          <a:ln/>
        </p:spPr>
        <p:txBody>
          <a:bodyPr wrap="square" lIns="0" tIns="0" rIns="0" bIns="0" rtlCol="0" anchor="t"/>
          <a:lstStyle/>
          <a:p>
            <a:pPr algn="l" indent="0" marL="0">
              <a:buNone/>
            </a:pPr>
            <a:r>
              <a:rPr lang="en-US" sz="1400" b="1" dirty="0">
                <a:solidFill>
                  <a:schemeClr val="tx2"/>
                </a:solidFill>
              </a:rPr>
              <a:t>Hierarki &amp; Kontrak</a:t>
            </a:r>
            <a:endParaRPr lang="en-US" sz="1400" dirty="0"/>
          </a:p>
        </p:txBody>
      </p:sp>
      <p:sp>
        <p:nvSpPr>
          <p:cNvPr id="6" name="Kelas TenagaMedis"/>
          <p:cNvSpPr txBox="1"/>
          <p:nvPr/>
        </p:nvSpPr>
        <p:spPr>
          <a:xfrm>
            <a:off x="685800" y="1828800"/>
            <a:ext cx="2103120" cy="731520"/>
          </a:xfrm>
          <a:prstGeom prst="roundRect">
            <a:avLst>
              <a:gd name="adj" fmla="val 10000"/>
            </a:avLst>
          </a:prstGeom>
          <a:solidFill>
            <a:schemeClr val="tx2"/>
          </a:solidFill>
          <a:ln/>
        </p:spPr>
        <p:txBody>
          <a:bodyPr wrap="square" lIns="50800" tIns="50800" rIns="50800" bIns="50800" rtlCol="0" anchor="ctr"/>
          <a:lstStyle/>
          <a:p>
            <a:pPr algn="ctr" indent="0" marL="0">
              <a:buNone/>
            </a:pPr>
            <a:r>
              <a:rPr lang="en-US" sz="1000" i="1" dirty="0">
                <a:solidFill>
                  <a:schemeClr val="bg1"/>
                </a:solidFill>
              </a:rPr>
              <a:t>&lt;&lt;abstract&gt;&gt;</a:t>
            </a:r>
            <a:endParaRPr lang="en-US" sz="1000" dirty="0"/>
          </a:p>
          <a:p>
            <a:pPr algn="ctr" indent="0" marL="0">
              <a:buNone/>
            </a:pPr>
            <a:r>
              <a:rPr lang="en-US" sz="1400" b="1" dirty="0">
                <a:solidFill>
                  <a:schemeClr val="bg1"/>
                </a:solidFill>
              </a:rPr>
              <a:t>TenagaMedis</a:t>
            </a:r>
            <a:endParaRPr lang="en-US" sz="1000" dirty="0"/>
          </a:p>
        </p:txBody>
      </p:sp>
      <p:sp>
        <p:nvSpPr>
          <p:cNvPr id="7" name="Interface PelayananKlinik"/>
          <p:cNvSpPr txBox="1"/>
          <p:nvPr/>
        </p:nvSpPr>
        <p:spPr>
          <a:xfrm>
            <a:off x="3291840" y="1828800"/>
            <a:ext cx="2103120" cy="731520"/>
          </a:xfrm>
          <a:prstGeom prst="roundRect">
            <a:avLst>
              <a:gd name="adj" fmla="val 10000"/>
            </a:avLst>
          </a:prstGeom>
          <a:solidFill>
            <a:schemeClr val="accent2"/>
          </a:solidFill>
          <a:ln/>
        </p:spPr>
        <p:txBody>
          <a:bodyPr wrap="square" lIns="50800" tIns="50800" rIns="50800" bIns="50800" rtlCol="0" anchor="ctr"/>
          <a:lstStyle/>
          <a:p>
            <a:pPr algn="ctr" indent="0" marL="0">
              <a:buNone/>
            </a:pPr>
            <a:r>
              <a:rPr lang="en-US" sz="1000" i="1" dirty="0">
                <a:solidFill>
                  <a:schemeClr val="bg1"/>
                </a:solidFill>
              </a:rPr>
              <a:t>&lt;&lt;interface&gt;&gt;</a:t>
            </a:r>
            <a:endParaRPr lang="en-US" sz="1000" dirty="0"/>
          </a:p>
          <a:p>
            <a:pPr algn="ctr" indent="0" marL="0">
              <a:buNone/>
            </a:pPr>
            <a:r>
              <a:rPr lang="en-US" sz="1400" b="1" dirty="0">
                <a:solidFill>
                  <a:schemeClr val="bg1"/>
                </a:solidFill>
              </a:rPr>
              <a:t>PelayananKlinik</a:t>
            </a:r>
            <a:endParaRPr lang="en-US" sz="1000" dirty="0"/>
          </a:p>
        </p:txBody>
      </p:sp>
      <p:sp>
        <p:nvSpPr>
          <p:cNvPr id="8" name="Kelas Dokter"/>
          <p:cNvSpPr txBox="1"/>
          <p:nvPr/>
        </p:nvSpPr>
        <p:spPr>
          <a:xfrm>
            <a:off x="685800" y="3246120"/>
            <a:ext cx="2103120" cy="640080"/>
          </a:xfrm>
          <a:prstGeom prst="roundRect">
            <a:avLst>
              <a:gd name="adj" fmla="val 11429"/>
            </a:avLst>
          </a:prstGeom>
          <a:solidFill>
            <a:schemeClr val="bg1"/>
          </a:solidFill>
          <a:ln w="15875">
            <a:solidFill>
              <a:srgbClr val="0F4C5C"/>
            </a:solidFill>
          </a:ln>
        </p:spPr>
        <p:txBody>
          <a:bodyPr wrap="square" lIns="50800" tIns="50800" rIns="50800" bIns="50800" rtlCol="0" anchor="ctr"/>
          <a:lstStyle/>
          <a:p>
            <a:pPr algn="ctr" indent="0" marL="0">
              <a:buNone/>
            </a:pPr>
            <a:r>
              <a:rPr lang="en-US" sz="1400" b="1" dirty="0">
                <a:solidFill>
                  <a:schemeClr val="tx2"/>
                </a:solidFill>
              </a:rPr>
              <a:t>Dokter</a:t>
            </a:r>
            <a:endParaRPr lang="en-US" sz="1400" dirty="0"/>
          </a:p>
        </p:txBody>
      </p:sp>
      <p:sp>
        <p:nvSpPr>
          <p:cNvPr id="9" name="Kelas Perawat"/>
          <p:cNvSpPr txBox="1"/>
          <p:nvPr/>
        </p:nvSpPr>
        <p:spPr>
          <a:xfrm>
            <a:off x="3291840" y="3246120"/>
            <a:ext cx="2103120" cy="640080"/>
          </a:xfrm>
          <a:prstGeom prst="roundRect">
            <a:avLst>
              <a:gd name="adj" fmla="val 11429"/>
            </a:avLst>
          </a:prstGeom>
          <a:solidFill>
            <a:schemeClr val="bg1"/>
          </a:solidFill>
          <a:ln w="15875">
            <a:solidFill>
              <a:srgbClr val="0F4C5C"/>
            </a:solidFill>
          </a:ln>
        </p:spPr>
        <p:txBody>
          <a:bodyPr wrap="square" lIns="50800" tIns="50800" rIns="50800" bIns="50800" rtlCol="0" anchor="ctr"/>
          <a:lstStyle/>
          <a:p>
            <a:pPr algn="ctr" indent="0" marL="0">
              <a:buNone/>
            </a:pPr>
            <a:r>
              <a:rPr lang="en-US" sz="1400" b="1" dirty="0">
                <a:solidFill>
                  <a:schemeClr val="tx2"/>
                </a:solidFill>
              </a:rPr>
              <a:t>Perawat</a:t>
            </a:r>
            <a:endParaRPr lang="en-US" sz="1400" dirty="0"/>
          </a:p>
        </p:txBody>
      </p:sp>
      <p:sp>
        <p:nvSpPr>
          <p:cNvPr id="10" name="Generalization Dokter"/>
          <p:cNvSpPr/>
          <p:nvPr/>
        </p:nvSpPr>
        <p:spPr>
          <a:xfrm>
            <a:off x="1280160" y="2560320"/>
            <a:ext cx="0" cy="685800"/>
          </a:xfrm>
          <a:prstGeom prst="line">
            <a:avLst/>
          </a:prstGeom>
          <a:noFill/>
          <a:ln w="22225">
            <a:solidFill>
              <a:schemeClr val="tx2"/>
            </a:solidFill>
            <a:prstDash val="solid"/>
            <a:headEnd type="triangle"/>
          </a:ln>
        </p:spPr>
      </p:sp>
      <p:sp>
        <p:nvSpPr>
          <p:cNvPr id="11" name="Generalization Perawat"/>
          <p:cNvSpPr/>
          <p:nvPr/>
        </p:nvSpPr>
        <p:spPr>
          <a:xfrm>
            <a:off x="2194560" y="2560320"/>
            <a:ext cx="1463040" cy="685800"/>
          </a:xfrm>
          <a:prstGeom prst="line">
            <a:avLst/>
          </a:prstGeom>
          <a:noFill/>
          <a:ln w="22225">
            <a:solidFill>
              <a:schemeClr val="tx2"/>
            </a:solidFill>
            <a:prstDash val="solid"/>
            <a:headEnd type="triangle"/>
          </a:ln>
        </p:spPr>
      </p:sp>
      <p:sp>
        <p:nvSpPr>
          <p:cNvPr id="12" name="Realization Dokter"/>
          <p:cNvSpPr/>
          <p:nvPr/>
        </p:nvSpPr>
        <p:spPr>
          <a:xfrm flipV="1">
            <a:off x="2788920" y="2560320"/>
            <a:ext cx="777240" cy="685800"/>
          </a:xfrm>
          <a:prstGeom prst="line">
            <a:avLst/>
          </a:prstGeom>
          <a:noFill/>
          <a:ln w="22225">
            <a:solidFill>
              <a:schemeClr val="accent2"/>
            </a:solidFill>
            <a:prstDash val="dash"/>
            <a:tailEnd type="triangle"/>
          </a:ln>
        </p:spPr>
      </p:sp>
      <p:sp>
        <p:nvSpPr>
          <p:cNvPr id="13" name="Realization Perawat"/>
          <p:cNvSpPr/>
          <p:nvPr/>
        </p:nvSpPr>
        <p:spPr>
          <a:xfrm>
            <a:off x="5029200" y="2560320"/>
            <a:ext cx="0" cy="685800"/>
          </a:xfrm>
          <a:prstGeom prst="line">
            <a:avLst/>
          </a:prstGeom>
          <a:noFill/>
          <a:ln w="22225">
            <a:solidFill>
              <a:schemeClr val="accent2"/>
            </a:solidFill>
            <a:prstDash val="dash"/>
            <a:headEnd type="triangle"/>
          </a:ln>
        </p:spPr>
      </p:sp>
      <p:sp>
        <p:nvSpPr>
          <p:cNvPr id="14" name="Text 12"/>
          <p:cNvSpPr txBox="1"/>
          <p:nvPr/>
        </p:nvSpPr>
        <p:spPr>
          <a:xfrm>
            <a:off x="640080" y="4114800"/>
            <a:ext cx="4754880" cy="320040"/>
          </a:xfrm>
          <a:prstGeom prst="rect">
            <a:avLst/>
          </a:prstGeom>
          <a:noFill/>
          <a:ln/>
        </p:spPr>
        <p:txBody>
          <a:bodyPr wrap="square" lIns="0" tIns="0" rIns="0" bIns="0" rtlCol="0" anchor="t"/>
          <a:lstStyle/>
          <a:p>
            <a:pPr algn="l" indent="0" marL="0">
              <a:buNone/>
            </a:pPr>
            <a:r>
              <a:rPr lang="en-US" sz="1100" dirty="0">
                <a:solidFill>
                  <a:schemeClr val="accent4"/>
                </a:solidFill>
              </a:rPr>
              <a:t>Garis solid = Generalization  |  Putus-putus = Realization</a:t>
            </a:r>
            <a:endParaRPr lang="en-US" sz="1100" dirty="0"/>
          </a:p>
        </p:txBody>
      </p:sp>
      <p:sp>
        <p:nvSpPr>
          <p:cNvPr id="15" name="Panel alur data"/>
          <p:cNvSpPr/>
          <p:nvPr/>
        </p:nvSpPr>
        <p:spPr>
          <a:xfrm>
            <a:off x="5760720" y="1280160"/>
            <a:ext cx="2926080" cy="3337560"/>
          </a:xfrm>
          <a:prstGeom prst="roundRect">
            <a:avLst>
              <a:gd name="adj" fmla="val 3125"/>
            </a:avLst>
          </a:prstGeom>
          <a:solidFill>
            <a:schemeClr val="bg2"/>
          </a:solidFill>
          <a:ln w="12700">
            <a:solidFill>
              <a:schemeClr val="bg2"/>
            </a:solidFill>
            <a:prstDash val="solid"/>
          </a:ln>
        </p:spPr>
      </p:sp>
      <p:sp>
        <p:nvSpPr>
          <p:cNvPr id="16" name="Text 14"/>
          <p:cNvSpPr txBox="1"/>
          <p:nvPr/>
        </p:nvSpPr>
        <p:spPr>
          <a:xfrm>
            <a:off x="5943600" y="1389888"/>
            <a:ext cx="2560320" cy="274320"/>
          </a:xfrm>
          <a:prstGeom prst="rect">
            <a:avLst/>
          </a:prstGeom>
          <a:noFill/>
          <a:ln/>
        </p:spPr>
        <p:txBody>
          <a:bodyPr wrap="square" lIns="0" tIns="0" rIns="0" bIns="0" rtlCol="0" anchor="t"/>
          <a:lstStyle/>
          <a:p>
            <a:pPr algn="l" indent="0" marL="0">
              <a:buNone/>
            </a:pPr>
            <a:r>
              <a:rPr lang="en-US" sz="1400" b="1" dirty="0">
                <a:solidFill>
                  <a:schemeClr val="tx2"/>
                </a:solidFill>
              </a:rPr>
              <a:t>Alur Data Klinis</a:t>
            </a:r>
            <a:endParaRPr lang="en-US" sz="1400" dirty="0"/>
          </a:p>
        </p:txBody>
      </p:sp>
      <p:sp>
        <p:nvSpPr>
          <p:cNvPr id="17" name="Kelas Pasien"/>
          <p:cNvSpPr txBox="1"/>
          <p:nvPr/>
        </p:nvSpPr>
        <p:spPr>
          <a:xfrm>
            <a:off x="6035040" y="1828800"/>
            <a:ext cx="2377440" cy="594360"/>
          </a:xfrm>
          <a:prstGeom prst="roundRect">
            <a:avLst>
              <a:gd name="adj" fmla="val 12308"/>
            </a:avLst>
          </a:prstGeom>
          <a:solidFill>
            <a:schemeClr val="accent1"/>
          </a:solidFill>
          <a:ln/>
        </p:spPr>
        <p:txBody>
          <a:bodyPr wrap="square" lIns="50800" tIns="50800" rIns="50800" bIns="50800" rtlCol="0" anchor="ctr"/>
          <a:lstStyle/>
          <a:p>
            <a:pPr algn="ctr" indent="0" marL="0">
              <a:buNone/>
            </a:pPr>
            <a:r>
              <a:rPr lang="en-US" sz="1400" b="1" dirty="0">
                <a:solidFill>
                  <a:schemeClr val="bg1"/>
                </a:solidFill>
              </a:rPr>
              <a:t>Pasien</a:t>
            </a:r>
            <a:endParaRPr lang="en-US" sz="1400" dirty="0"/>
          </a:p>
        </p:txBody>
      </p:sp>
      <p:sp>
        <p:nvSpPr>
          <p:cNvPr id="18" name="Kelas RekamMedis"/>
          <p:cNvSpPr txBox="1"/>
          <p:nvPr/>
        </p:nvSpPr>
        <p:spPr>
          <a:xfrm>
            <a:off x="6035040" y="2788920"/>
            <a:ext cx="2377440" cy="731520"/>
          </a:xfrm>
          <a:prstGeom prst="roundRect">
            <a:avLst>
              <a:gd name="adj" fmla="val 10000"/>
            </a:avLst>
          </a:prstGeom>
          <a:solidFill>
            <a:schemeClr val="accent1"/>
          </a:solidFill>
          <a:ln/>
        </p:spPr>
        <p:txBody>
          <a:bodyPr wrap="square" lIns="50800" tIns="50800" rIns="50800" bIns="50800" rtlCol="0" anchor="ctr"/>
          <a:lstStyle/>
          <a:p>
            <a:pPr algn="ctr" indent="0" marL="0">
              <a:buNone/>
            </a:pPr>
            <a:r>
              <a:rPr lang="en-US" sz="1400" b="1" dirty="0">
                <a:solidFill>
                  <a:schemeClr val="bg1"/>
                </a:solidFill>
              </a:rPr>
              <a:t>RekamMedis</a:t>
            </a:r>
            <a:endParaRPr lang="en-US" sz="1400" dirty="0"/>
          </a:p>
          <a:p>
            <a:pPr algn="ctr" indent="0" marL="0">
              <a:buNone/>
            </a:pPr>
            <a:r>
              <a:rPr lang="en-US" sz="1000" dirty="0">
                <a:solidFill>
                  <a:schemeClr val="bg1"/>
                </a:solidFill>
              </a:rPr>
              <a:t>juga merujuk TenagaMedis</a:t>
            </a:r>
            <a:endParaRPr lang="en-US" sz="1400" dirty="0"/>
          </a:p>
        </p:txBody>
      </p:sp>
      <p:sp>
        <p:nvSpPr>
          <p:cNvPr id="19" name="Kelas TransaksiPembayaran"/>
          <p:cNvSpPr txBox="1"/>
          <p:nvPr/>
        </p:nvSpPr>
        <p:spPr>
          <a:xfrm>
            <a:off x="6035040" y="3886200"/>
            <a:ext cx="2377440" cy="594360"/>
          </a:xfrm>
          <a:prstGeom prst="roundRect">
            <a:avLst>
              <a:gd name="adj" fmla="val 12308"/>
            </a:avLst>
          </a:prstGeom>
          <a:solidFill>
            <a:schemeClr val="accent1"/>
          </a:solidFill>
          <a:ln/>
        </p:spPr>
        <p:txBody>
          <a:bodyPr wrap="square" lIns="50800" tIns="50800" rIns="50800" bIns="50800" rtlCol="0" anchor="ctr"/>
          <a:lstStyle/>
          <a:p>
            <a:pPr algn="ctr" indent="0" marL="0">
              <a:buNone/>
            </a:pPr>
            <a:r>
              <a:rPr lang="en-US" sz="1400" b="1" dirty="0">
                <a:solidFill>
                  <a:schemeClr val="bg1"/>
                </a:solidFill>
              </a:rPr>
              <a:t>TransaksiPembayaran</a:t>
            </a:r>
            <a:endParaRPr lang="en-US" sz="1400" dirty="0"/>
          </a:p>
        </p:txBody>
      </p:sp>
      <p:sp>
        <p:nvSpPr>
          <p:cNvPr id="20" name="Asosiasi Pasien ke RekamMedis"/>
          <p:cNvSpPr/>
          <p:nvPr/>
        </p:nvSpPr>
        <p:spPr>
          <a:xfrm>
            <a:off x="7223760" y="2423160"/>
            <a:ext cx="0" cy="365760"/>
          </a:xfrm>
          <a:prstGeom prst="line">
            <a:avLst/>
          </a:prstGeom>
          <a:noFill/>
          <a:ln w="22225">
            <a:solidFill>
              <a:schemeClr val="tx2"/>
            </a:solidFill>
            <a:prstDash val="solid"/>
            <a:tailEnd type="triangle"/>
          </a:ln>
        </p:spPr>
      </p:sp>
      <p:sp>
        <p:nvSpPr>
          <p:cNvPr id="21" name="Asosiasi RekamMedis ke Transaksi"/>
          <p:cNvSpPr/>
          <p:nvPr/>
        </p:nvSpPr>
        <p:spPr>
          <a:xfrm>
            <a:off x="7223760" y="3520440"/>
            <a:ext cx="0" cy="365760"/>
          </a:xfrm>
          <a:prstGeom prst="line">
            <a:avLst/>
          </a:prstGeom>
          <a:noFill/>
          <a:ln w="22225">
            <a:solidFill>
              <a:schemeClr val="tx2"/>
            </a:solidFill>
            <a:prstDash val="solid"/>
            <a:tailEnd type="triangle"/>
          </a:ln>
        </p:spPr>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ag rubrik"/>
          <p:cNvSpPr txBox="1"/>
          <p:nvPr/>
        </p:nvSpPr>
        <p:spPr>
          <a:xfrm>
            <a:off x="457200" y="201168"/>
            <a:ext cx="2011680" cy="256032"/>
          </a:xfrm>
          <a:prstGeom prst="roundRect">
            <a:avLst>
              <a:gd name="adj" fmla="val 50000"/>
            </a:avLst>
          </a:prstGeom>
          <a:solidFill>
            <a:schemeClr val="accent1"/>
          </a:solidFill>
          <a:ln/>
        </p:spPr>
        <p:txBody>
          <a:bodyPr wrap="square" lIns="0" tIns="0" rIns="0" bIns="0" rtlCol="0" anchor="ctr"/>
          <a:lstStyle/>
          <a:p>
            <a:pPr algn="ctr" indent="0" marL="0">
              <a:buNone/>
            </a:pPr>
            <a:r>
              <a:rPr lang="en-US" sz="1000" b="1" spc="100" kern="0" dirty="0">
                <a:solidFill>
                  <a:schemeClr val="bg1"/>
                </a:solidFill>
              </a:rPr>
              <a:t>ENKAPSULASI  |  BOBOT 20%</a:t>
            </a:r>
            <a:endParaRPr lang="en-US" sz="1000" dirty="0"/>
          </a:p>
        </p:txBody>
      </p:sp>
      <p:sp>
        <p:nvSpPr>
          <p:cNvPr id="3" name="Text 0"/>
          <p:cNvSpPr/>
          <p:nvPr>
            <p:ph idx="100" type="title" hasCustomPrompt="1"/>
          </p:nvPr>
        </p:nvSpPr>
        <p:spPr>
          <a:xfrm>
            <a:off x="457200" y="502920"/>
            <a:ext cx="8229600" cy="640080"/>
          </a:xfrm>
          <a:prstGeom prst="rect">
            <a:avLst/>
          </a:prstGeom>
          <a:noFill/>
          <a:ln/>
        </p:spPr>
        <p:txBody>
          <a:bodyPr wrap="square" lIns="0" tIns="0" rIns="0" bIns="0" rtlCol="0" anchor="ctr"/>
          <a:lstStyle/>
          <a:p>
            <a:pPr algn="l" indent="0" marL="0">
              <a:buNone/>
            </a:pPr>
            <a:r>
              <a:rPr lang="en-US" sz="3200" b="1" dirty="0">
                <a:solidFill>
                  <a:schemeClr val="tx2"/>
                </a:solidFill>
              </a:rPr>
              <a:t>Enkapsulasi &amp; Validasi Bisnis</a:t>
            </a:r>
            <a:endParaRPr lang="en-US" sz="3200" dirty="0"/>
          </a:p>
        </p:txBody>
      </p:sp>
      <p:sp>
        <p:nvSpPr>
          <p:cNvPr id="4" name="Panel kode setter"/>
          <p:cNvSpPr/>
          <p:nvPr/>
        </p:nvSpPr>
        <p:spPr>
          <a:xfrm>
            <a:off x="457200" y="1280160"/>
            <a:ext cx="4206240" cy="3337560"/>
          </a:xfrm>
          <a:prstGeom prst="roundRect">
            <a:avLst>
              <a:gd name="adj" fmla="val 2740"/>
            </a:avLst>
          </a:prstGeom>
          <a:solidFill>
            <a:schemeClr val="tx1"/>
          </a:solidFill>
          <a:ln w="12700">
            <a:solidFill>
              <a:schemeClr val="tx1"/>
            </a:solidFill>
            <a:prstDash val="solid"/>
          </a:ln>
          <a:effectLst>
            <a:outerShdw sx="100000" sy="100000" kx="0" ky="0" algn="bl" rotWithShape="0" blurRad="76200" dist="25400" dir="5400000">
              <a:srgbClr val="000000">
                <a:alpha val="12000"/>
              </a:srgbClr>
            </a:outerShdw>
          </a:effectLst>
        </p:spPr>
      </p:sp>
      <p:sp>
        <p:nvSpPr>
          <p:cNvPr id="5" name="Text 3"/>
          <p:cNvSpPr txBox="1"/>
          <p:nvPr/>
        </p:nvSpPr>
        <p:spPr>
          <a:xfrm>
            <a:off x="685800" y="1417320"/>
            <a:ext cx="3749040" cy="228600"/>
          </a:xfrm>
          <a:prstGeom prst="rect">
            <a:avLst/>
          </a:prstGeom>
          <a:noFill/>
          <a:ln/>
        </p:spPr>
        <p:txBody>
          <a:bodyPr wrap="square" lIns="0" tIns="0" rIns="0" bIns="0" rtlCol="0" anchor="t"/>
          <a:lstStyle/>
          <a:p>
            <a:pPr algn="l" indent="0" marL="0">
              <a:buNone/>
            </a:pPr>
            <a:r>
              <a:rPr lang="en-US" sz="1100" dirty="0">
                <a:solidFill>
                  <a:schemeClr val="accent3"/>
                </a:solidFill>
              </a:rPr>
              <a:t>Contoh setter dengan validasi</a:t>
            </a:r>
            <a:endParaRPr lang="en-US" sz="1100" dirty="0"/>
          </a:p>
        </p:txBody>
      </p:sp>
      <p:sp>
        <p:nvSpPr>
          <p:cNvPr id="6" name="Text 4"/>
          <p:cNvSpPr txBox="1"/>
          <p:nvPr/>
        </p:nvSpPr>
        <p:spPr>
          <a:xfrm>
            <a:off x="685800" y="1783080"/>
            <a:ext cx="3749040" cy="1600200"/>
          </a:xfrm>
          <a:prstGeom prst="rect">
            <a:avLst/>
          </a:prstGeom>
          <a:noFill/>
          <a:ln/>
        </p:spPr>
        <p:txBody>
          <a:bodyPr wrap="square" lIns="0" tIns="0" rIns="0" bIns="0" rtlCol="0" anchor="t"/>
          <a:lstStyle/>
          <a:p>
            <a:pPr algn="l" indent="0" marL="0">
              <a:spcAft>
                <a:spcPts val="200"/>
              </a:spcAft>
              <a:buNone/>
            </a:pPr>
            <a:r>
              <a:rPr lang="en-US" sz="1200" dirty="0">
                <a:solidFill>
                  <a:schemeClr val="bg2"/>
                </a:solidFill>
                <a:latin typeface="Courier New" pitchFamily="34" charset="0"/>
                <a:ea typeface="Courier New" pitchFamily="34" charset="-122"/>
                <a:cs typeface="Courier New" pitchFamily="34" charset="-120"/>
              </a:rPr>
              <a:t>public void setUsia(int usia) {</a:t>
            </a:r>
            <a:endParaRPr lang="en-US" sz="1200" dirty="0"/>
          </a:p>
          <a:p>
            <a:pPr algn="l" indent="0" marL="0">
              <a:spcAft>
                <a:spcPts val="200"/>
              </a:spcAft>
              <a:buNone/>
            </a:pPr>
            <a:r>
              <a:rPr lang="en-US" sz="1200" dirty="0">
                <a:solidFill>
                  <a:schemeClr val="bg2"/>
                </a:solidFill>
                <a:latin typeface="Courier New" pitchFamily="34" charset="0"/>
                <a:ea typeface="Courier New" pitchFamily="34" charset="-122"/>
                <a:cs typeface="Courier New" pitchFamily="34" charset="-120"/>
              </a:rPr>
              <a:t>  if (usia &lt; 0 || usia &gt; 150)</a:t>
            </a:r>
            <a:endParaRPr lang="en-US" sz="1200" dirty="0"/>
          </a:p>
          <a:p>
            <a:pPr algn="l" indent="0" marL="0">
              <a:spcAft>
                <a:spcPts val="200"/>
              </a:spcAft>
              <a:buNone/>
            </a:pPr>
            <a:r>
              <a:rPr lang="en-US" sz="1200" dirty="0">
                <a:solidFill>
                  <a:schemeClr val="bg2"/>
                </a:solidFill>
                <a:latin typeface="Courier New" pitchFamily="34" charset="0"/>
                <a:ea typeface="Courier New" pitchFamily="34" charset="-122"/>
                <a:cs typeface="Courier New" pitchFamily="34" charset="-120"/>
              </a:rPr>
              <a:t>    throw new IllegalArgumentException(</a:t>
            </a:r>
            <a:endParaRPr lang="en-US" sz="1200" dirty="0"/>
          </a:p>
          <a:p>
            <a:pPr algn="l" indent="0" marL="0">
              <a:spcAft>
                <a:spcPts val="200"/>
              </a:spcAft>
              <a:buNone/>
            </a:pPr>
            <a:r>
              <a:rPr lang="en-US" sz="1200" dirty="0">
                <a:solidFill>
                  <a:schemeClr val="bg2"/>
                </a:solidFill>
                <a:latin typeface="Courier New" pitchFamily="34" charset="0"/>
                <a:ea typeface="Courier New" pitchFamily="34" charset="-122"/>
                <a:cs typeface="Courier New" pitchFamily="34" charset="-120"/>
              </a:rPr>
              <a:t>      "Usia harus 0 - 150");</a:t>
            </a:r>
            <a:endParaRPr lang="en-US" sz="1200" dirty="0"/>
          </a:p>
          <a:p>
            <a:pPr algn="l" indent="0" marL="0">
              <a:spcAft>
                <a:spcPts val="200"/>
              </a:spcAft>
              <a:buNone/>
            </a:pPr>
            <a:r>
              <a:rPr lang="en-US" sz="1200" dirty="0">
                <a:solidFill>
                  <a:schemeClr val="bg2"/>
                </a:solidFill>
                <a:latin typeface="Courier New" pitchFamily="34" charset="0"/>
                <a:ea typeface="Courier New" pitchFamily="34" charset="-122"/>
                <a:cs typeface="Courier New" pitchFamily="34" charset="-120"/>
              </a:rPr>
              <a:t>  this.usia = usia;</a:t>
            </a:r>
            <a:endParaRPr lang="en-US" sz="1200" dirty="0"/>
          </a:p>
          <a:p>
            <a:pPr algn="l" indent="0" marL="0">
              <a:spcAft>
                <a:spcPts val="200"/>
              </a:spcAft>
              <a:buNone/>
            </a:pPr>
            <a:r>
              <a:rPr lang="en-US" sz="1200" dirty="0">
                <a:solidFill>
                  <a:schemeClr val="bg2"/>
                </a:solidFill>
                <a:latin typeface="Courier New" pitchFamily="34" charset="0"/>
                <a:ea typeface="Courier New" pitchFamily="34" charset="-122"/>
                <a:cs typeface="Courier New" pitchFamily="34" charset="-120"/>
              </a:rPr>
              <a:t>}</a:t>
            </a:r>
            <a:endParaRPr lang="en-US" sz="1200" dirty="0"/>
          </a:p>
        </p:txBody>
      </p:sp>
      <p:sp>
        <p:nvSpPr>
          <p:cNvPr id="7" name="Hasil penolakan setter"/>
          <p:cNvSpPr txBox="1"/>
          <p:nvPr/>
        </p:nvSpPr>
        <p:spPr>
          <a:xfrm>
            <a:off x="685800" y="3840480"/>
            <a:ext cx="3749040" cy="548640"/>
          </a:xfrm>
          <a:prstGeom prst="roundRect">
            <a:avLst>
              <a:gd name="adj" fmla="val 13333"/>
            </a:avLst>
          </a:prstGeom>
          <a:solidFill>
            <a:schemeClr val="accent2"/>
          </a:solidFill>
          <a:ln/>
        </p:spPr>
        <p:txBody>
          <a:bodyPr wrap="square" lIns="50800" tIns="50800" rIns="50800" bIns="50800" rtlCol="0" anchor="ctr"/>
          <a:lstStyle/>
          <a:p>
            <a:pPr algn="ctr" indent="0" marL="0">
              <a:buNone/>
            </a:pPr>
            <a:r>
              <a:rPr lang="en-US" sz="1300" b="1" dirty="0">
                <a:solidFill>
                  <a:schemeClr val="bg1"/>
                </a:solidFill>
              </a:rPr>
              <a:t>setUsia(-15)  →  IllegalArgumentException</a:t>
            </a:r>
            <a:endParaRPr lang="en-US" sz="1300" dirty="0"/>
          </a:p>
        </p:txBody>
      </p:sp>
      <p:sp>
        <p:nvSpPr>
          <p:cNvPr id="8" name="Banner private"/>
          <p:cNvSpPr/>
          <p:nvPr/>
        </p:nvSpPr>
        <p:spPr>
          <a:xfrm>
            <a:off x="4937760" y="1280160"/>
            <a:ext cx="3749040" cy="731520"/>
          </a:xfrm>
          <a:prstGeom prst="roundRect">
            <a:avLst>
              <a:gd name="adj" fmla="val 12500"/>
            </a:avLst>
          </a:prstGeom>
          <a:solidFill>
            <a:schemeClr val="tx2"/>
          </a:solidFill>
          <a:ln w="12700">
            <a:solidFill>
              <a:schemeClr val="tx2"/>
            </a:solidFill>
            <a:prstDash val="solid"/>
          </a:ln>
          <a:effectLst>
            <a:outerShdw sx="100000" sy="100000" kx="0" ky="0" algn="bl" rotWithShape="0" blurRad="76200" dist="25400" dir="5400000">
              <a:srgbClr val="000000">
                <a:alpha val="12000"/>
              </a:srgbClr>
            </a:outerShdw>
          </a:effectLst>
        </p:spPr>
      </p:sp>
      <p:sp>
        <p:nvSpPr>
          <p:cNvPr id="9" name="Ikon private badge"/>
          <p:cNvSpPr/>
          <p:nvPr/>
        </p:nvSpPr>
        <p:spPr>
          <a:xfrm>
            <a:off x="5120640" y="1417320"/>
            <a:ext cx="457200" cy="457200"/>
          </a:xfrm>
          <a:prstGeom prst="ellipse">
            <a:avLst/>
          </a:prstGeom>
          <a:solidFill>
            <a:schemeClr val="accent1"/>
          </a:solidFill>
          <a:ln w="12700">
            <a:solidFill>
              <a:schemeClr val="accent1"/>
            </a:solidFill>
            <a:prstDash val="solid"/>
          </a:ln>
        </p:spPr>
      </p:sp>
      <p:pic>
        <p:nvPicPr>
          <p:cNvPr id="10" name="Ikon private" descr="Ikon private">    </p:cNvPr>
          <p:cNvPicPr>
            <a:picLocks noChangeAspect="1"/>
          </p:cNvPicPr>
          <p:nvPr/>
        </p:nvPicPr>
        <p:blipFill>
          <a:blip r:embed="rId1"/>
          <a:stretch>
            <a:fillRect/>
          </a:stretch>
        </p:blipFill>
        <p:spPr>
          <a:xfrm>
            <a:off x="5221224" y="1517904"/>
            <a:ext cx="256032" cy="256032"/>
          </a:xfrm>
          <a:prstGeom prst="rect">
            <a:avLst/>
          </a:prstGeom>
        </p:spPr>
      </p:pic>
      <p:sp>
        <p:nvSpPr>
          <p:cNvPr id="11" name="Text 8"/>
          <p:cNvSpPr txBox="1"/>
          <p:nvPr/>
        </p:nvSpPr>
        <p:spPr>
          <a:xfrm>
            <a:off x="5715000" y="1325880"/>
            <a:ext cx="2880360" cy="640080"/>
          </a:xfrm>
          <a:prstGeom prst="rect">
            <a:avLst/>
          </a:prstGeom>
          <a:noFill/>
          <a:ln/>
        </p:spPr>
        <p:txBody>
          <a:bodyPr wrap="square" lIns="0" tIns="0" rIns="0" bIns="0" rtlCol="0" anchor="ctr"/>
          <a:lstStyle/>
          <a:p>
            <a:pPr algn="l" indent="0" marL="0">
              <a:buNone/>
            </a:pPr>
            <a:r>
              <a:rPr lang="en-US" sz="1300" b="1" dirty="0">
                <a:solidFill>
                  <a:schemeClr val="bg1"/>
                </a:solidFill>
              </a:rPr>
              <a:t>Semua atribut private; akses hanya lewat getter &amp; setter publik</a:t>
            </a:r>
            <a:endParaRPr lang="en-US" sz="1300" dirty="0"/>
          </a:p>
        </p:txBody>
      </p:sp>
      <p:sp>
        <p:nvSpPr>
          <p:cNvPr id="12" name="Aturan Usia pasien"/>
          <p:cNvSpPr/>
          <p:nvPr/>
        </p:nvSpPr>
        <p:spPr>
          <a:xfrm>
            <a:off x="4937760" y="2176272"/>
            <a:ext cx="3749040" cy="731520"/>
          </a:xfrm>
          <a:prstGeom prst="roundRect">
            <a:avLst>
              <a:gd name="adj" fmla="val 12500"/>
            </a:avLst>
          </a:prstGeom>
          <a:solidFill>
            <a:schemeClr val="bg2"/>
          </a:solidFill>
          <a:ln w="12700">
            <a:solidFill>
              <a:schemeClr val="bg2"/>
            </a:solidFill>
            <a:prstDash val="solid"/>
          </a:ln>
        </p:spPr>
      </p:sp>
      <p:sp>
        <p:nvSpPr>
          <p:cNvPr id="13" name="Ikon Usia pasien badge"/>
          <p:cNvSpPr/>
          <p:nvPr/>
        </p:nvSpPr>
        <p:spPr>
          <a:xfrm>
            <a:off x="5120640" y="2313432"/>
            <a:ext cx="457200" cy="457200"/>
          </a:xfrm>
          <a:prstGeom prst="ellipse">
            <a:avLst/>
          </a:prstGeom>
          <a:solidFill>
            <a:schemeClr val="accent1"/>
          </a:solidFill>
          <a:ln w="12700">
            <a:solidFill>
              <a:schemeClr val="accent1"/>
            </a:solidFill>
            <a:prstDash val="solid"/>
          </a:ln>
        </p:spPr>
      </p:sp>
      <p:pic>
        <p:nvPicPr>
          <p:cNvPr id="14" name="Ikon Usia pasien" descr="Ikon Usia pasien">    </p:cNvPr>
          <p:cNvPicPr>
            <a:picLocks noChangeAspect="1"/>
          </p:cNvPicPr>
          <p:nvPr/>
        </p:nvPicPr>
        <p:blipFill>
          <a:blip r:embed="rId2"/>
          <a:stretch>
            <a:fillRect/>
          </a:stretch>
        </p:blipFill>
        <p:spPr>
          <a:xfrm>
            <a:off x="5221224" y="2414016"/>
            <a:ext cx="256032" cy="256032"/>
          </a:xfrm>
          <a:prstGeom prst="rect">
            <a:avLst/>
          </a:prstGeom>
        </p:spPr>
      </p:pic>
      <p:sp>
        <p:nvSpPr>
          <p:cNvPr id="15" name="Text 11"/>
          <p:cNvSpPr txBox="1"/>
          <p:nvPr/>
        </p:nvSpPr>
        <p:spPr>
          <a:xfrm>
            <a:off x="5715000" y="2249424"/>
            <a:ext cx="2880360" cy="594360"/>
          </a:xfrm>
          <a:prstGeom prst="rect">
            <a:avLst/>
          </a:prstGeom>
          <a:noFill/>
          <a:ln/>
        </p:spPr>
        <p:txBody>
          <a:bodyPr wrap="square" lIns="0" tIns="0" rIns="0" bIns="0" rtlCol="0" anchor="ctr"/>
          <a:lstStyle/>
          <a:p>
            <a:pPr algn="l" indent="0" marL="0">
              <a:buNone/>
            </a:pPr>
            <a:r>
              <a:rPr lang="en-US" sz="1400" b="1" dirty="0">
                <a:solidFill>
                  <a:schemeClr val="tx2"/>
                </a:solidFill>
              </a:rPr>
              <a:t>Usia pasien</a:t>
            </a:r>
            <a:endParaRPr lang="en-US" sz="1400" dirty="0"/>
          </a:p>
          <a:p>
            <a:pPr algn="l" indent="0" marL="0">
              <a:buNone/>
            </a:pPr>
            <a:r>
              <a:rPr lang="en-US" sz="1200" dirty="0">
                <a:solidFill>
                  <a:schemeClr val="tx1"/>
                </a:solidFill>
              </a:rPr>
              <a:t>Rentang logis 0 sampai 150 tahun</a:t>
            </a:r>
            <a:endParaRPr lang="en-US" sz="1400" dirty="0"/>
          </a:p>
        </p:txBody>
      </p:sp>
      <p:sp>
        <p:nvSpPr>
          <p:cNvPr id="16" name="Aturan Nama pasien"/>
          <p:cNvSpPr/>
          <p:nvPr/>
        </p:nvSpPr>
        <p:spPr>
          <a:xfrm>
            <a:off x="4937760" y="3017520"/>
            <a:ext cx="3749040" cy="731520"/>
          </a:xfrm>
          <a:prstGeom prst="roundRect">
            <a:avLst>
              <a:gd name="adj" fmla="val 12500"/>
            </a:avLst>
          </a:prstGeom>
          <a:solidFill>
            <a:schemeClr val="bg2"/>
          </a:solidFill>
          <a:ln w="12700">
            <a:solidFill>
              <a:schemeClr val="bg2"/>
            </a:solidFill>
            <a:prstDash val="solid"/>
          </a:ln>
        </p:spPr>
      </p:sp>
      <p:sp>
        <p:nvSpPr>
          <p:cNvPr id="17" name="Ikon Nama pasien badge"/>
          <p:cNvSpPr/>
          <p:nvPr/>
        </p:nvSpPr>
        <p:spPr>
          <a:xfrm>
            <a:off x="5120640" y="3154680"/>
            <a:ext cx="457200" cy="457200"/>
          </a:xfrm>
          <a:prstGeom prst="ellipse">
            <a:avLst/>
          </a:prstGeom>
          <a:solidFill>
            <a:schemeClr val="accent5"/>
          </a:solidFill>
          <a:ln w="12700">
            <a:solidFill>
              <a:schemeClr val="accent5"/>
            </a:solidFill>
            <a:prstDash val="solid"/>
          </a:ln>
        </p:spPr>
      </p:sp>
      <p:pic>
        <p:nvPicPr>
          <p:cNvPr id="18" name="Ikon Nama pasien" descr="Ikon Nama pasien">    </p:cNvPr>
          <p:cNvPicPr>
            <a:picLocks noChangeAspect="1"/>
          </p:cNvPicPr>
          <p:nvPr/>
        </p:nvPicPr>
        <p:blipFill>
          <a:blip r:embed="rId3"/>
          <a:stretch>
            <a:fillRect/>
          </a:stretch>
        </p:blipFill>
        <p:spPr>
          <a:xfrm>
            <a:off x="5221224" y="3255264"/>
            <a:ext cx="256032" cy="256032"/>
          </a:xfrm>
          <a:prstGeom prst="rect">
            <a:avLst/>
          </a:prstGeom>
        </p:spPr>
      </p:pic>
      <p:sp>
        <p:nvSpPr>
          <p:cNvPr id="19" name="Text 14"/>
          <p:cNvSpPr txBox="1"/>
          <p:nvPr/>
        </p:nvSpPr>
        <p:spPr>
          <a:xfrm>
            <a:off x="5715000" y="3090672"/>
            <a:ext cx="2880360" cy="594360"/>
          </a:xfrm>
          <a:prstGeom prst="rect">
            <a:avLst/>
          </a:prstGeom>
          <a:noFill/>
          <a:ln/>
        </p:spPr>
        <p:txBody>
          <a:bodyPr wrap="square" lIns="0" tIns="0" rIns="0" bIns="0" rtlCol="0" anchor="ctr"/>
          <a:lstStyle/>
          <a:p>
            <a:pPr algn="l" indent="0" marL="0">
              <a:buNone/>
            </a:pPr>
            <a:r>
              <a:rPr lang="en-US" sz="1400" b="1" dirty="0">
                <a:solidFill>
                  <a:schemeClr val="tx2"/>
                </a:solidFill>
              </a:rPr>
              <a:t>Nama pasien</a:t>
            </a:r>
            <a:endParaRPr lang="en-US" sz="1400" dirty="0"/>
          </a:p>
          <a:p>
            <a:pPr algn="l" indent="0" marL="0">
              <a:buNone/>
            </a:pPr>
            <a:r>
              <a:rPr lang="en-US" sz="1200" dirty="0">
                <a:solidFill>
                  <a:schemeClr val="tx1"/>
                </a:solidFill>
              </a:rPr>
              <a:t>Tidak boleh kosong, minimal 2 huruf</a:t>
            </a:r>
            <a:endParaRPr lang="en-US" sz="1400" dirty="0"/>
          </a:p>
        </p:txBody>
      </p:sp>
      <p:sp>
        <p:nvSpPr>
          <p:cNvPr id="20" name="Aturan Tarif dokter &amp; jam lembur"/>
          <p:cNvSpPr/>
          <p:nvPr/>
        </p:nvSpPr>
        <p:spPr>
          <a:xfrm>
            <a:off x="4937760" y="3858768"/>
            <a:ext cx="3749040" cy="731520"/>
          </a:xfrm>
          <a:prstGeom prst="roundRect">
            <a:avLst>
              <a:gd name="adj" fmla="val 12500"/>
            </a:avLst>
          </a:prstGeom>
          <a:solidFill>
            <a:schemeClr val="bg2"/>
          </a:solidFill>
          <a:ln w="12700">
            <a:solidFill>
              <a:schemeClr val="bg2"/>
            </a:solidFill>
            <a:prstDash val="solid"/>
          </a:ln>
        </p:spPr>
      </p:sp>
      <p:sp>
        <p:nvSpPr>
          <p:cNvPr id="21" name="Ikon Tarif dokter &amp; jam lembur badge"/>
          <p:cNvSpPr/>
          <p:nvPr/>
        </p:nvSpPr>
        <p:spPr>
          <a:xfrm>
            <a:off x="5120640" y="3995928"/>
            <a:ext cx="457200" cy="457200"/>
          </a:xfrm>
          <a:prstGeom prst="ellipse">
            <a:avLst/>
          </a:prstGeom>
          <a:solidFill>
            <a:schemeClr val="accent6"/>
          </a:solidFill>
          <a:ln w="12700">
            <a:solidFill>
              <a:schemeClr val="accent6"/>
            </a:solidFill>
            <a:prstDash val="solid"/>
          </a:ln>
        </p:spPr>
      </p:sp>
      <p:pic>
        <p:nvPicPr>
          <p:cNvPr id="22" name="Ikon Tarif dokter &amp; jam lembur" descr="Ikon Tarif dokter &amp; jam lembur">    </p:cNvPr>
          <p:cNvPicPr>
            <a:picLocks noChangeAspect="1"/>
          </p:cNvPicPr>
          <p:nvPr/>
        </p:nvPicPr>
        <p:blipFill>
          <a:blip r:embed="rId4"/>
          <a:stretch>
            <a:fillRect/>
          </a:stretch>
        </p:blipFill>
        <p:spPr>
          <a:xfrm>
            <a:off x="5221224" y="4096512"/>
            <a:ext cx="256032" cy="256032"/>
          </a:xfrm>
          <a:prstGeom prst="rect">
            <a:avLst/>
          </a:prstGeom>
        </p:spPr>
      </p:pic>
      <p:sp>
        <p:nvSpPr>
          <p:cNvPr id="23" name="Text 17"/>
          <p:cNvSpPr txBox="1"/>
          <p:nvPr/>
        </p:nvSpPr>
        <p:spPr>
          <a:xfrm>
            <a:off x="5715000" y="3931920"/>
            <a:ext cx="2880360" cy="594360"/>
          </a:xfrm>
          <a:prstGeom prst="rect">
            <a:avLst/>
          </a:prstGeom>
          <a:noFill/>
          <a:ln/>
        </p:spPr>
        <p:txBody>
          <a:bodyPr wrap="square" lIns="0" tIns="0" rIns="0" bIns="0" rtlCol="0" anchor="ctr"/>
          <a:lstStyle/>
          <a:p>
            <a:pPr algn="l" indent="0" marL="0">
              <a:buNone/>
            </a:pPr>
            <a:r>
              <a:rPr lang="en-US" sz="1400" b="1" dirty="0">
                <a:solidFill>
                  <a:schemeClr val="tx2"/>
                </a:solidFill>
              </a:rPr>
              <a:t>Tarif dokter &amp; jam lembur</a:t>
            </a:r>
            <a:endParaRPr lang="en-US" sz="1400" dirty="0"/>
          </a:p>
          <a:p>
            <a:pPr algn="l" indent="0" marL="0">
              <a:buNone/>
            </a:pPr>
            <a:r>
              <a:rPr lang="en-US" sz="1200" dirty="0">
                <a:solidFill>
                  <a:schemeClr val="tx1"/>
                </a:solidFill>
              </a:rPr>
              <a:t>Nilai negatif ditolak</a:t>
            </a:r>
            <a:endParaRPr lang="en-US" sz="14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ag rubrik"/>
          <p:cNvSpPr txBox="1"/>
          <p:nvPr/>
        </p:nvSpPr>
        <p:spPr>
          <a:xfrm>
            <a:off x="457200" y="201168"/>
            <a:ext cx="3200400" cy="256032"/>
          </a:xfrm>
          <a:prstGeom prst="roundRect">
            <a:avLst>
              <a:gd name="adj" fmla="val 50000"/>
            </a:avLst>
          </a:prstGeom>
          <a:solidFill>
            <a:schemeClr val="accent1"/>
          </a:solidFill>
          <a:ln/>
        </p:spPr>
        <p:txBody>
          <a:bodyPr wrap="square" lIns="0" tIns="0" rIns="0" bIns="0" rtlCol="0" anchor="ctr"/>
          <a:lstStyle/>
          <a:p>
            <a:pPr algn="ctr" indent="0" marL="0">
              <a:buNone/>
            </a:pPr>
            <a:r>
              <a:rPr lang="en-US" sz="1000" b="1" spc="100" kern="0" dirty="0">
                <a:solidFill>
                  <a:schemeClr val="bg1"/>
                </a:solidFill>
              </a:rPr>
              <a:t>INHERITANCE &amp; POLIMORFISME  |  BOBOT 40%</a:t>
            </a:r>
            <a:endParaRPr lang="en-US" sz="1000" dirty="0"/>
          </a:p>
        </p:txBody>
      </p:sp>
      <p:sp>
        <p:nvSpPr>
          <p:cNvPr id="3" name="Text 0"/>
          <p:cNvSpPr/>
          <p:nvPr>
            <p:ph idx="100" type="title" hasCustomPrompt="1"/>
          </p:nvPr>
        </p:nvSpPr>
        <p:spPr>
          <a:xfrm>
            <a:off x="457200" y="502920"/>
            <a:ext cx="8229600" cy="640080"/>
          </a:xfrm>
          <a:prstGeom prst="rect">
            <a:avLst/>
          </a:prstGeom>
          <a:noFill/>
          <a:ln/>
        </p:spPr>
        <p:txBody>
          <a:bodyPr wrap="square" lIns="0" tIns="0" rIns="0" bIns="0" rtlCol="0" anchor="ctr"/>
          <a:lstStyle/>
          <a:p>
            <a:pPr algn="l" indent="0" marL="0">
              <a:buNone/>
            </a:pPr>
            <a:r>
              <a:rPr lang="en-US" sz="3200" b="1" dirty="0">
                <a:solidFill>
                  <a:schemeClr val="tx2"/>
                </a:solidFill>
              </a:rPr>
              <a:t>Pewarisan, Abstract &amp; Polimorfisme</a:t>
            </a:r>
            <a:endParaRPr lang="en-US" sz="3200" dirty="0"/>
          </a:p>
        </p:txBody>
      </p:sp>
      <p:sp>
        <p:nvSpPr>
          <p:cNvPr id="4" name="Kartu abstract class"/>
          <p:cNvSpPr/>
          <p:nvPr/>
        </p:nvSpPr>
        <p:spPr>
          <a:xfrm>
            <a:off x="457200" y="1280160"/>
            <a:ext cx="3977640" cy="1554480"/>
          </a:xfrm>
          <a:prstGeom prst="roundRect">
            <a:avLst>
              <a:gd name="adj" fmla="val 5882"/>
            </a:avLst>
          </a:prstGeom>
          <a:solidFill>
            <a:schemeClr val="bg2"/>
          </a:solidFill>
          <a:ln w="12700">
            <a:solidFill>
              <a:schemeClr val="bg2"/>
            </a:solidFill>
            <a:prstDash val="solid"/>
          </a:ln>
        </p:spPr>
      </p:sp>
      <p:sp>
        <p:nvSpPr>
          <p:cNvPr id="5" name="Text 3"/>
          <p:cNvSpPr txBox="1"/>
          <p:nvPr/>
        </p:nvSpPr>
        <p:spPr>
          <a:xfrm>
            <a:off x="640080" y="1389888"/>
            <a:ext cx="3611880" cy="274320"/>
          </a:xfrm>
          <a:prstGeom prst="rect">
            <a:avLst/>
          </a:prstGeom>
          <a:noFill/>
          <a:ln/>
        </p:spPr>
        <p:txBody>
          <a:bodyPr wrap="square" lIns="0" tIns="0" rIns="0" bIns="0" rtlCol="0" anchor="t"/>
          <a:lstStyle/>
          <a:p>
            <a:pPr algn="l" indent="0" marL="0">
              <a:buNone/>
            </a:pPr>
            <a:r>
              <a:rPr lang="en-US" sz="1500" b="1" dirty="0">
                <a:solidFill>
                  <a:schemeClr val="tx2"/>
                </a:solidFill>
              </a:rPr>
              <a:t>Abstract class TenagaMedis</a:t>
            </a:r>
            <a:endParaRPr lang="en-US" sz="1500" dirty="0"/>
          </a:p>
        </p:txBody>
      </p:sp>
      <p:sp>
        <p:nvSpPr>
          <p:cNvPr id="6" name="Text 4"/>
          <p:cNvSpPr txBox="1"/>
          <p:nvPr/>
        </p:nvSpPr>
        <p:spPr>
          <a:xfrm>
            <a:off x="640080" y="1737360"/>
            <a:ext cx="3611880" cy="1005840"/>
          </a:xfrm>
          <a:prstGeom prst="rect">
            <a:avLst/>
          </a:prstGeom>
          <a:noFill/>
          <a:ln/>
        </p:spPr>
        <p:txBody>
          <a:bodyPr wrap="square" lIns="0" tIns="0" rIns="0" bIns="0" rtlCol="0" anchor="t"/>
          <a:lstStyle/>
          <a:p>
            <a:pPr algn="l" indent="0" marL="0">
              <a:buNone/>
            </a:pPr>
            <a:r>
              <a:rPr lang="en-US" sz="1400" dirty="0">
                <a:solidFill>
                  <a:schemeClr val="tx1"/>
                </a:solidFill>
              </a:rPr>
              <a:t>Tidak bisa diinstansiasi dengan new. Metode abstrak tampilkanPeran() wajib dioverride oleh Dokter dan Perawat.</a:t>
            </a:r>
            <a:endParaRPr lang="en-US" sz="1400" dirty="0"/>
          </a:p>
        </p:txBody>
      </p:sp>
      <p:sp>
        <p:nvSpPr>
          <p:cNvPr id="7" name="Kartu interface"/>
          <p:cNvSpPr/>
          <p:nvPr/>
        </p:nvSpPr>
        <p:spPr>
          <a:xfrm>
            <a:off x="4709160" y="1280160"/>
            <a:ext cx="3977640" cy="1554480"/>
          </a:xfrm>
          <a:prstGeom prst="roundRect">
            <a:avLst>
              <a:gd name="adj" fmla="val 5882"/>
            </a:avLst>
          </a:prstGeom>
          <a:solidFill>
            <a:schemeClr val="bg2"/>
          </a:solidFill>
          <a:ln w="12700">
            <a:solidFill>
              <a:schemeClr val="bg2"/>
            </a:solidFill>
            <a:prstDash val="solid"/>
          </a:ln>
        </p:spPr>
      </p:sp>
      <p:sp>
        <p:nvSpPr>
          <p:cNvPr id="8" name="Text 6"/>
          <p:cNvSpPr txBox="1"/>
          <p:nvPr/>
        </p:nvSpPr>
        <p:spPr>
          <a:xfrm>
            <a:off x="4892040" y="1389888"/>
            <a:ext cx="3611880" cy="274320"/>
          </a:xfrm>
          <a:prstGeom prst="rect">
            <a:avLst/>
          </a:prstGeom>
          <a:noFill/>
          <a:ln/>
        </p:spPr>
        <p:txBody>
          <a:bodyPr wrap="square" lIns="0" tIns="0" rIns="0" bIns="0" rtlCol="0" anchor="t"/>
          <a:lstStyle/>
          <a:p>
            <a:pPr algn="l" indent="0" marL="0">
              <a:buNone/>
            </a:pPr>
            <a:r>
              <a:rPr lang="en-US" sz="1500" b="1" dirty="0">
                <a:solidFill>
                  <a:schemeClr val="accent2"/>
                </a:solidFill>
              </a:rPr>
              <a:t>Interface PelayananKlinik</a:t>
            </a:r>
            <a:endParaRPr lang="en-US" sz="1500" dirty="0"/>
          </a:p>
        </p:txBody>
      </p:sp>
      <p:sp>
        <p:nvSpPr>
          <p:cNvPr id="9" name="Text 7"/>
          <p:cNvSpPr txBox="1"/>
          <p:nvPr/>
        </p:nvSpPr>
        <p:spPr>
          <a:xfrm>
            <a:off x="4892040" y="1737360"/>
            <a:ext cx="3611880" cy="1005840"/>
          </a:xfrm>
          <a:prstGeom prst="rect">
            <a:avLst/>
          </a:prstGeom>
          <a:noFill/>
          <a:ln/>
        </p:spPr>
        <p:txBody>
          <a:bodyPr wrap="square" lIns="0" tIns="0" rIns="0" bIns="0" rtlCol="0" anchor="t"/>
          <a:lstStyle/>
          <a:p>
            <a:pPr algn="l" indent="0" marL="0">
              <a:buNone/>
            </a:pPr>
            <a:r>
              <a:rPr lang="en-US" sz="1400" dirty="0">
                <a:solidFill>
                  <a:schemeClr val="tx1"/>
                </a:solidFill>
              </a:rPr>
              <a:t>Kontrak layanan: melayaniPasien(String) dan hitungBiayaLayanan(double), diimplementasikan Dokter dan Perawat.</a:t>
            </a:r>
            <a:endParaRPr lang="en-US" sz="1400" dirty="0"/>
          </a:p>
        </p:txBody>
      </p:sp>
      <p:sp>
        <p:nvSpPr>
          <p:cNvPr id="10" name="Panel dynamic dispatch"/>
          <p:cNvSpPr/>
          <p:nvPr/>
        </p:nvSpPr>
        <p:spPr>
          <a:xfrm>
            <a:off x="457200" y="3017520"/>
            <a:ext cx="8229600" cy="1600200"/>
          </a:xfrm>
          <a:prstGeom prst="roundRect">
            <a:avLst>
              <a:gd name="adj" fmla="val 5714"/>
            </a:avLst>
          </a:prstGeom>
          <a:solidFill>
            <a:schemeClr val="tx2"/>
          </a:solidFill>
          <a:ln w="12700">
            <a:solidFill>
              <a:schemeClr val="tx2"/>
            </a:solidFill>
            <a:prstDash val="solid"/>
          </a:ln>
        </p:spPr>
      </p:sp>
      <p:sp>
        <p:nvSpPr>
          <p:cNvPr id="11" name="Text 9"/>
          <p:cNvSpPr txBox="1"/>
          <p:nvPr/>
        </p:nvSpPr>
        <p:spPr>
          <a:xfrm>
            <a:off x="640080" y="3108960"/>
            <a:ext cx="7863840" cy="320040"/>
          </a:xfrm>
          <a:prstGeom prst="rect">
            <a:avLst/>
          </a:prstGeom>
          <a:noFill/>
          <a:ln/>
        </p:spPr>
        <p:txBody>
          <a:bodyPr wrap="square" lIns="0" tIns="0" rIns="0" bIns="0" rtlCol="0" anchor="t"/>
          <a:lstStyle/>
          <a:p>
            <a:pPr algn="l" indent="0" marL="0">
              <a:buNone/>
            </a:pPr>
            <a:r>
              <a:rPr lang="en-US" sz="1400" b="1" dirty="0">
                <a:solidFill>
                  <a:schemeClr val="bg1"/>
                </a:solidFill>
              </a:rPr>
              <a:t>Dynamic method dispatch lewat array polimorfik PelayananKlinik[]</a:t>
            </a:r>
            <a:endParaRPr lang="en-US" sz="1400" dirty="0"/>
          </a:p>
        </p:txBody>
      </p:sp>
      <p:sp>
        <p:nvSpPr>
          <p:cNvPr id="12" name="Array polimorfik"/>
          <p:cNvSpPr txBox="1"/>
          <p:nvPr/>
        </p:nvSpPr>
        <p:spPr>
          <a:xfrm>
            <a:off x="731520" y="3657600"/>
            <a:ext cx="2103120" cy="731520"/>
          </a:xfrm>
          <a:prstGeom prst="roundRect">
            <a:avLst>
              <a:gd name="adj" fmla="val 10000"/>
            </a:avLst>
          </a:prstGeom>
          <a:solidFill>
            <a:schemeClr val="accent2"/>
          </a:solidFill>
          <a:ln/>
        </p:spPr>
        <p:txBody>
          <a:bodyPr wrap="square" lIns="50800" tIns="50800" rIns="50800" bIns="50800" rtlCol="0" anchor="ctr"/>
          <a:lstStyle/>
          <a:p>
            <a:pPr algn="ctr" indent="0" marL="0">
              <a:buNone/>
            </a:pPr>
            <a:r>
              <a:rPr lang="en-US" sz="1400" b="1" dirty="0">
                <a:solidFill>
                  <a:schemeClr val="bg1"/>
                </a:solidFill>
              </a:rPr>
              <a:t>PelayananKlinik[ ]</a:t>
            </a:r>
            <a:endParaRPr lang="en-US" sz="1400" dirty="0"/>
          </a:p>
        </p:txBody>
      </p:sp>
      <p:sp>
        <p:nvSpPr>
          <p:cNvPr id="13" name="Text 11"/>
          <p:cNvSpPr txBox="1"/>
          <p:nvPr/>
        </p:nvSpPr>
        <p:spPr>
          <a:xfrm>
            <a:off x="2880360" y="3657600"/>
            <a:ext cx="1325880" cy="320040"/>
          </a:xfrm>
          <a:prstGeom prst="rect">
            <a:avLst/>
          </a:prstGeom>
          <a:noFill/>
          <a:ln/>
        </p:spPr>
        <p:txBody>
          <a:bodyPr wrap="square" lIns="0" tIns="0" rIns="0" bIns="0" rtlCol="0" anchor="t"/>
          <a:lstStyle/>
          <a:p>
            <a:pPr algn="ctr" indent="0" marL="0">
              <a:buNone/>
            </a:pPr>
            <a:r>
              <a:rPr lang="en-US" sz="1100" dirty="0">
                <a:solidFill>
                  <a:schemeClr val="bg2"/>
                </a:solidFill>
              </a:rPr>
              <a:t>hitungBiayaLayanan()</a:t>
            </a:r>
            <a:endParaRPr lang="en-US" sz="1100" dirty="0"/>
          </a:p>
        </p:txBody>
      </p:sp>
      <p:sp>
        <p:nvSpPr>
          <p:cNvPr id="14" name="Panah pemanggilan metode"/>
          <p:cNvSpPr/>
          <p:nvPr/>
        </p:nvSpPr>
        <p:spPr>
          <a:xfrm>
            <a:off x="2926080" y="4023360"/>
            <a:ext cx="1188720" cy="0"/>
          </a:xfrm>
          <a:prstGeom prst="line">
            <a:avLst/>
          </a:prstGeom>
          <a:noFill/>
          <a:ln w="22225">
            <a:solidFill>
              <a:schemeClr val="bg1"/>
            </a:solidFill>
            <a:prstDash val="solid"/>
            <a:tailEnd type="triangle"/>
          </a:ln>
        </p:spPr>
      </p:sp>
      <p:sp>
        <p:nvSpPr>
          <p:cNvPr id="15" name="Hasil Dokter"/>
          <p:cNvSpPr txBox="1"/>
          <p:nvPr/>
        </p:nvSpPr>
        <p:spPr>
          <a:xfrm>
            <a:off x="4297680" y="3566160"/>
            <a:ext cx="4206240" cy="411480"/>
          </a:xfrm>
          <a:prstGeom prst="roundRect">
            <a:avLst>
              <a:gd name="adj" fmla="val 17778"/>
            </a:avLst>
          </a:prstGeom>
          <a:solidFill>
            <a:schemeClr val="bg1"/>
          </a:solidFill>
          <a:ln/>
        </p:spPr>
        <p:txBody>
          <a:bodyPr wrap="square" lIns="50800" tIns="50800" rIns="50800" bIns="50800" rtlCol="0" anchor="ctr"/>
          <a:lstStyle/>
          <a:p>
            <a:pPr algn="ctr" indent="0" marL="0">
              <a:buNone/>
            </a:pPr>
            <a:r>
              <a:rPr lang="en-US" sz="1400" b="1" dirty="0">
                <a:solidFill>
                  <a:schemeClr val="tx2"/>
                </a:solidFill>
              </a:rPr>
              <a:t>Dokter: + tarif konsultasi spesialis</a:t>
            </a:r>
            <a:endParaRPr lang="en-US" sz="1400" dirty="0"/>
          </a:p>
        </p:txBody>
      </p:sp>
      <p:sp>
        <p:nvSpPr>
          <p:cNvPr id="16" name="Hasil Perawat"/>
          <p:cNvSpPr txBox="1"/>
          <p:nvPr/>
        </p:nvSpPr>
        <p:spPr>
          <a:xfrm>
            <a:off x="4297680" y="4069080"/>
            <a:ext cx="4206240" cy="411480"/>
          </a:xfrm>
          <a:prstGeom prst="roundRect">
            <a:avLst>
              <a:gd name="adj" fmla="val 17778"/>
            </a:avLst>
          </a:prstGeom>
          <a:solidFill>
            <a:schemeClr val="bg1"/>
          </a:solidFill>
          <a:ln/>
        </p:spPr>
        <p:txBody>
          <a:bodyPr wrap="square" lIns="50800" tIns="50800" rIns="50800" bIns="50800" rtlCol="0" anchor="ctr"/>
          <a:lstStyle/>
          <a:p>
            <a:pPr algn="ctr" indent="0" marL="0">
              <a:buNone/>
            </a:pPr>
            <a:r>
              <a:rPr lang="en-US" sz="1400" b="1" dirty="0">
                <a:solidFill>
                  <a:schemeClr val="tx2"/>
                </a:solidFill>
              </a:rPr>
              <a:t>Perawat: + tarif jasa asuhan keperawatan</a:t>
            </a:r>
            <a:endParaRPr lang="en-US" sz="14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ag rubrik"/>
          <p:cNvSpPr txBox="1"/>
          <p:nvPr/>
        </p:nvSpPr>
        <p:spPr>
          <a:xfrm>
            <a:off x="457200" y="201168"/>
            <a:ext cx="2743200" cy="256032"/>
          </a:xfrm>
          <a:prstGeom prst="roundRect">
            <a:avLst>
              <a:gd name="adj" fmla="val 50000"/>
            </a:avLst>
          </a:prstGeom>
          <a:solidFill>
            <a:schemeClr val="accent1"/>
          </a:solidFill>
          <a:ln/>
        </p:spPr>
        <p:txBody>
          <a:bodyPr wrap="square" lIns="0" tIns="0" rIns="0" bIns="0" rtlCol="0" anchor="ctr"/>
          <a:lstStyle/>
          <a:p>
            <a:pPr algn="ctr" indent="0" marL="0">
              <a:buNone/>
            </a:pPr>
            <a:r>
              <a:rPr lang="en-US" sz="1000" b="1" spc="100" kern="0" dirty="0">
                <a:solidFill>
                  <a:schemeClr val="bg1"/>
                </a:solidFill>
              </a:rPr>
              <a:t>PERSISTENSI DATA  |  MYSQL &amp; DAO</a:t>
            </a:r>
            <a:endParaRPr lang="en-US" sz="1000" dirty="0"/>
          </a:p>
        </p:txBody>
      </p:sp>
      <p:sp>
        <p:nvSpPr>
          <p:cNvPr id="3" name="Text 0"/>
          <p:cNvSpPr/>
          <p:nvPr>
            <p:ph idx="100" type="title" hasCustomPrompt="1"/>
          </p:nvPr>
        </p:nvSpPr>
        <p:spPr>
          <a:xfrm>
            <a:off x="457200" y="502920"/>
            <a:ext cx="8229600" cy="640080"/>
          </a:xfrm>
          <a:prstGeom prst="rect">
            <a:avLst/>
          </a:prstGeom>
          <a:noFill/>
          <a:ln/>
        </p:spPr>
        <p:txBody>
          <a:bodyPr wrap="square" lIns="0" tIns="0" rIns="0" bIns="0" rtlCol="0" anchor="ctr"/>
          <a:lstStyle/>
          <a:p>
            <a:pPr algn="l" indent="0" marL="0">
              <a:buNone/>
            </a:pPr>
            <a:r>
              <a:rPr lang="en-US" sz="3200" b="1" dirty="0">
                <a:solidFill>
                  <a:schemeClr val="tx2"/>
                </a:solidFill>
              </a:rPr>
              <a:t>Arsitektur MySQL &amp; Pola DAO</a:t>
            </a:r>
            <a:endParaRPr lang="en-US" sz="3200" dirty="0"/>
          </a:p>
        </p:txBody>
      </p:sp>
      <p:sp>
        <p:nvSpPr>
          <p:cNvPr id="4" name="Tabel pasien"/>
          <p:cNvSpPr txBox="1"/>
          <p:nvPr/>
        </p:nvSpPr>
        <p:spPr>
          <a:xfrm>
            <a:off x="457200" y="1280160"/>
            <a:ext cx="1828800" cy="868680"/>
          </a:xfrm>
          <a:prstGeom prst="roundRect">
            <a:avLst>
              <a:gd name="adj" fmla="val 8421"/>
            </a:avLst>
          </a:prstGeom>
          <a:solidFill>
            <a:schemeClr val="tx2"/>
          </a:solidFill>
          <a:ln/>
        </p:spPr>
        <p:txBody>
          <a:bodyPr wrap="square" lIns="50800" tIns="50800" rIns="50800" bIns="50800" rtlCol="0" anchor="ctr"/>
          <a:lstStyle/>
          <a:p>
            <a:pPr algn="ctr" indent="0" marL="0">
              <a:buNone/>
            </a:pPr>
            <a:r>
              <a:rPr lang="en-US" sz="1300" b="1" dirty="0">
                <a:solidFill>
                  <a:schemeClr val="bg1"/>
                </a:solidFill>
              </a:rPr>
              <a:t>pasien</a:t>
            </a:r>
            <a:endParaRPr lang="en-US" sz="1300" dirty="0"/>
          </a:p>
          <a:p>
            <a:pPr algn="ctr" indent="0" marL="0">
              <a:buNone/>
            </a:pPr>
            <a:r>
              <a:rPr lang="en-US" sz="1100" dirty="0">
                <a:solidFill>
                  <a:schemeClr val="bg1"/>
                </a:solidFill>
              </a:rPr>
              <a:t>tabel induk</a:t>
            </a:r>
            <a:endParaRPr lang="en-US" sz="1300" dirty="0"/>
          </a:p>
        </p:txBody>
      </p:sp>
      <p:sp>
        <p:nvSpPr>
          <p:cNvPr id="5" name="Tabel tenaga_medis"/>
          <p:cNvSpPr txBox="1"/>
          <p:nvPr/>
        </p:nvSpPr>
        <p:spPr>
          <a:xfrm>
            <a:off x="2590495" y="1280160"/>
            <a:ext cx="1828800" cy="868680"/>
          </a:xfrm>
          <a:prstGeom prst="roundRect">
            <a:avLst>
              <a:gd name="adj" fmla="val 8421"/>
            </a:avLst>
          </a:prstGeom>
          <a:solidFill>
            <a:schemeClr val="tx2"/>
          </a:solidFill>
          <a:ln/>
        </p:spPr>
        <p:txBody>
          <a:bodyPr wrap="square" lIns="50800" tIns="50800" rIns="50800" bIns="50800" rtlCol="0" anchor="ctr"/>
          <a:lstStyle/>
          <a:p>
            <a:pPr algn="ctr" indent="0" marL="0">
              <a:buNone/>
            </a:pPr>
            <a:r>
              <a:rPr lang="en-US" sz="1300" b="1" dirty="0">
                <a:solidFill>
                  <a:schemeClr val="bg1"/>
                </a:solidFill>
              </a:rPr>
              <a:t>tenaga_medis</a:t>
            </a:r>
            <a:endParaRPr lang="en-US" sz="1300" dirty="0"/>
          </a:p>
          <a:p>
            <a:pPr algn="ctr" indent="0" marL="0">
              <a:buNone/>
            </a:pPr>
            <a:r>
              <a:rPr lang="en-US" sz="1100" dirty="0">
                <a:solidFill>
                  <a:schemeClr val="bg1"/>
                </a:solidFill>
              </a:rPr>
              <a:t>tabel induk</a:t>
            </a:r>
            <a:endParaRPr lang="en-US" sz="1300" dirty="0"/>
          </a:p>
        </p:txBody>
      </p:sp>
      <p:sp>
        <p:nvSpPr>
          <p:cNvPr id="6" name="Tabel rekam_medis"/>
          <p:cNvSpPr txBox="1"/>
          <p:nvPr/>
        </p:nvSpPr>
        <p:spPr>
          <a:xfrm>
            <a:off x="4723790" y="1280160"/>
            <a:ext cx="1828800" cy="868680"/>
          </a:xfrm>
          <a:prstGeom prst="roundRect">
            <a:avLst>
              <a:gd name="adj" fmla="val 8421"/>
            </a:avLst>
          </a:prstGeom>
          <a:solidFill>
            <a:schemeClr val="accent1"/>
          </a:solidFill>
          <a:ln/>
        </p:spPr>
        <p:txBody>
          <a:bodyPr wrap="square" lIns="50800" tIns="50800" rIns="50800" bIns="50800" rtlCol="0" anchor="ctr"/>
          <a:lstStyle/>
          <a:p>
            <a:pPr algn="ctr" indent="0" marL="0">
              <a:buNone/>
            </a:pPr>
            <a:r>
              <a:rPr lang="en-US" sz="1300" b="1" dirty="0">
                <a:solidFill>
                  <a:schemeClr val="bg1"/>
                </a:solidFill>
              </a:rPr>
              <a:t>rekam_medis</a:t>
            </a:r>
            <a:endParaRPr lang="en-US" sz="1300" dirty="0"/>
          </a:p>
          <a:p>
            <a:pPr algn="ctr" indent="0" marL="0">
              <a:buNone/>
            </a:pPr>
            <a:r>
              <a:rPr lang="en-US" sz="1100" dirty="0">
                <a:solidFill>
                  <a:schemeClr val="bg1"/>
                </a:solidFill>
              </a:rPr>
              <a:t>FK ke pasien &amp; tenaga_medis</a:t>
            </a:r>
            <a:endParaRPr lang="en-US" sz="1300" dirty="0"/>
          </a:p>
        </p:txBody>
      </p:sp>
      <p:sp>
        <p:nvSpPr>
          <p:cNvPr id="7" name="Tabel transaksi_pembayaran"/>
          <p:cNvSpPr txBox="1"/>
          <p:nvPr/>
        </p:nvSpPr>
        <p:spPr>
          <a:xfrm>
            <a:off x="6857086" y="1280160"/>
            <a:ext cx="1828800" cy="868680"/>
          </a:xfrm>
          <a:prstGeom prst="roundRect">
            <a:avLst>
              <a:gd name="adj" fmla="val 8421"/>
            </a:avLst>
          </a:prstGeom>
          <a:solidFill>
            <a:schemeClr val="accent1"/>
          </a:solidFill>
          <a:ln/>
        </p:spPr>
        <p:txBody>
          <a:bodyPr wrap="square" lIns="50800" tIns="50800" rIns="50800" bIns="50800" rtlCol="0" anchor="ctr"/>
          <a:lstStyle/>
          <a:p>
            <a:pPr algn="ctr" indent="0" marL="0">
              <a:buNone/>
            </a:pPr>
            <a:r>
              <a:rPr lang="en-US" sz="1300" b="1" dirty="0">
                <a:solidFill>
                  <a:schemeClr val="bg1"/>
                </a:solidFill>
              </a:rPr>
              <a:t>transaksi_pembayaran</a:t>
            </a:r>
            <a:endParaRPr lang="en-US" sz="1300" dirty="0"/>
          </a:p>
          <a:p>
            <a:pPr algn="ctr" indent="0" marL="0">
              <a:buNone/>
            </a:pPr>
            <a:r>
              <a:rPr lang="en-US" sz="1100" dirty="0">
                <a:solidFill>
                  <a:schemeClr val="bg1"/>
                </a:solidFill>
              </a:rPr>
              <a:t>FK ke rekam_medis</a:t>
            </a:r>
            <a:endParaRPr lang="en-US" sz="1300" dirty="0"/>
          </a:p>
        </p:txBody>
      </p:sp>
      <p:sp>
        <p:nvSpPr>
          <p:cNvPr id="8" name="Text 6"/>
          <p:cNvSpPr txBox="1"/>
          <p:nvPr/>
        </p:nvSpPr>
        <p:spPr>
          <a:xfrm>
            <a:off x="457200" y="2240280"/>
            <a:ext cx="8229600" cy="274320"/>
          </a:xfrm>
          <a:prstGeom prst="rect">
            <a:avLst/>
          </a:prstGeom>
          <a:noFill/>
          <a:ln/>
        </p:spPr>
        <p:txBody>
          <a:bodyPr wrap="square" lIns="0" tIns="0" rIns="0" bIns="0" rtlCol="0" anchor="t"/>
          <a:lstStyle/>
          <a:p>
            <a:pPr algn="l" indent="0" marL="0">
              <a:buNone/>
            </a:pPr>
            <a:r>
              <a:rPr lang="en-US" sz="1200" dirty="0">
                <a:solidFill>
                  <a:schemeClr val="accent4"/>
                </a:solidFill>
              </a:rPr>
              <a:t>Database db_klinik (MySQL XAMPP): 4 tabel relasional, FK dengan ON UPDATE CASCADE dan ON DELETE CASCADE</a:t>
            </a:r>
            <a:endParaRPr lang="en-US" sz="1200" dirty="0"/>
          </a:p>
        </p:txBody>
      </p:sp>
      <p:sp>
        <p:nvSpPr>
          <p:cNvPr id="9" name="Kartu Singleton Pattern"/>
          <p:cNvSpPr/>
          <p:nvPr/>
        </p:nvSpPr>
        <p:spPr>
          <a:xfrm>
            <a:off x="457200" y="2651760"/>
            <a:ext cx="2560320" cy="1965960"/>
          </a:xfrm>
          <a:prstGeom prst="roundRect">
            <a:avLst>
              <a:gd name="adj" fmla="val 4651"/>
            </a:avLst>
          </a:prstGeom>
          <a:solidFill>
            <a:schemeClr val="bg2"/>
          </a:solidFill>
          <a:ln w="12700">
            <a:solidFill>
              <a:schemeClr val="bg2"/>
            </a:solidFill>
            <a:prstDash val="solid"/>
          </a:ln>
        </p:spPr>
      </p:sp>
      <p:sp>
        <p:nvSpPr>
          <p:cNvPr id="10" name="Ikon Singleton Pattern badge"/>
          <p:cNvSpPr/>
          <p:nvPr/>
        </p:nvSpPr>
        <p:spPr>
          <a:xfrm>
            <a:off x="640080" y="2788920"/>
            <a:ext cx="457200" cy="457200"/>
          </a:xfrm>
          <a:prstGeom prst="ellipse">
            <a:avLst/>
          </a:prstGeom>
          <a:solidFill>
            <a:schemeClr val="accent2"/>
          </a:solidFill>
          <a:ln w="12700">
            <a:solidFill>
              <a:schemeClr val="accent2"/>
            </a:solidFill>
            <a:prstDash val="solid"/>
          </a:ln>
        </p:spPr>
      </p:sp>
      <p:pic>
        <p:nvPicPr>
          <p:cNvPr id="11" name="Ikon Singleton Pattern" descr="Ikon Singleton Pattern">    </p:cNvPr>
          <p:cNvPicPr>
            <a:picLocks noChangeAspect="1"/>
          </p:cNvPicPr>
          <p:nvPr/>
        </p:nvPicPr>
        <p:blipFill>
          <a:blip r:embed="rId1"/>
          <a:stretch>
            <a:fillRect/>
          </a:stretch>
        </p:blipFill>
        <p:spPr>
          <a:xfrm>
            <a:off x="740664" y="2889504"/>
            <a:ext cx="256032" cy="256032"/>
          </a:xfrm>
          <a:prstGeom prst="rect">
            <a:avLst/>
          </a:prstGeom>
        </p:spPr>
      </p:pic>
      <p:sp>
        <p:nvSpPr>
          <p:cNvPr id="12" name="Text 9"/>
          <p:cNvSpPr txBox="1"/>
          <p:nvPr/>
        </p:nvSpPr>
        <p:spPr>
          <a:xfrm>
            <a:off x="1234440" y="2788920"/>
            <a:ext cx="1645920" cy="457200"/>
          </a:xfrm>
          <a:prstGeom prst="rect">
            <a:avLst/>
          </a:prstGeom>
          <a:noFill/>
          <a:ln/>
        </p:spPr>
        <p:txBody>
          <a:bodyPr wrap="square" lIns="0" tIns="0" rIns="0" bIns="0" rtlCol="0" anchor="ctr"/>
          <a:lstStyle/>
          <a:p>
            <a:pPr algn="l" indent="0" marL="0">
              <a:buNone/>
            </a:pPr>
            <a:r>
              <a:rPr lang="en-US" sz="1500" b="1" dirty="0">
                <a:solidFill>
                  <a:schemeClr val="tx2"/>
                </a:solidFill>
              </a:rPr>
              <a:t>Singleton Pattern</a:t>
            </a:r>
            <a:endParaRPr lang="en-US" sz="1500" dirty="0"/>
          </a:p>
        </p:txBody>
      </p:sp>
      <p:sp>
        <p:nvSpPr>
          <p:cNvPr id="13" name="Text 10"/>
          <p:cNvSpPr txBox="1"/>
          <p:nvPr/>
        </p:nvSpPr>
        <p:spPr>
          <a:xfrm>
            <a:off x="640080" y="3383280"/>
            <a:ext cx="2194560" cy="1143000"/>
          </a:xfrm>
          <a:prstGeom prst="rect">
            <a:avLst/>
          </a:prstGeom>
          <a:noFill/>
          <a:ln/>
        </p:spPr>
        <p:txBody>
          <a:bodyPr wrap="square" lIns="0" tIns="0" rIns="0" bIns="0" rtlCol="0" anchor="t"/>
          <a:lstStyle/>
          <a:p>
            <a:pPr algn="l" indent="0" marL="0">
              <a:buNone/>
            </a:pPr>
            <a:r>
              <a:rPr lang="en-US" sz="1300" dirty="0">
                <a:solidFill>
                  <a:schemeClr val="tx1"/>
                </a:solidFill>
              </a:rPr>
              <a:t>DatabaseConnection mengelola satu koneksi JDBC terpusat agar alokasi koneksi efisien.</a:t>
            </a:r>
            <a:endParaRPr lang="en-US" sz="1300" dirty="0"/>
          </a:p>
        </p:txBody>
      </p:sp>
      <p:sp>
        <p:nvSpPr>
          <p:cNvPr id="14" name="Kartu DAO Pattern"/>
          <p:cNvSpPr/>
          <p:nvPr/>
        </p:nvSpPr>
        <p:spPr>
          <a:xfrm>
            <a:off x="3291840" y="2651760"/>
            <a:ext cx="2560320" cy="1965960"/>
          </a:xfrm>
          <a:prstGeom prst="roundRect">
            <a:avLst>
              <a:gd name="adj" fmla="val 4651"/>
            </a:avLst>
          </a:prstGeom>
          <a:solidFill>
            <a:schemeClr val="bg2"/>
          </a:solidFill>
          <a:ln w="12700">
            <a:solidFill>
              <a:schemeClr val="bg2"/>
            </a:solidFill>
            <a:prstDash val="solid"/>
          </a:ln>
        </p:spPr>
      </p:sp>
      <p:sp>
        <p:nvSpPr>
          <p:cNvPr id="15" name="Ikon DAO Pattern badge"/>
          <p:cNvSpPr/>
          <p:nvPr/>
        </p:nvSpPr>
        <p:spPr>
          <a:xfrm>
            <a:off x="3474720" y="2788920"/>
            <a:ext cx="457200" cy="457200"/>
          </a:xfrm>
          <a:prstGeom prst="ellipse">
            <a:avLst/>
          </a:prstGeom>
          <a:solidFill>
            <a:schemeClr val="accent1"/>
          </a:solidFill>
          <a:ln w="12700">
            <a:solidFill>
              <a:schemeClr val="accent1"/>
            </a:solidFill>
            <a:prstDash val="solid"/>
          </a:ln>
        </p:spPr>
      </p:sp>
      <p:pic>
        <p:nvPicPr>
          <p:cNvPr id="16" name="Ikon DAO Pattern" descr="Ikon DAO Pattern">    </p:cNvPr>
          <p:cNvPicPr>
            <a:picLocks noChangeAspect="1"/>
          </p:cNvPicPr>
          <p:nvPr/>
        </p:nvPicPr>
        <p:blipFill>
          <a:blip r:embed="rId2"/>
          <a:stretch>
            <a:fillRect/>
          </a:stretch>
        </p:blipFill>
        <p:spPr>
          <a:xfrm>
            <a:off x="3575304" y="2889504"/>
            <a:ext cx="256032" cy="256032"/>
          </a:xfrm>
          <a:prstGeom prst="rect">
            <a:avLst/>
          </a:prstGeom>
        </p:spPr>
      </p:pic>
      <p:sp>
        <p:nvSpPr>
          <p:cNvPr id="17" name="Text 13"/>
          <p:cNvSpPr txBox="1"/>
          <p:nvPr/>
        </p:nvSpPr>
        <p:spPr>
          <a:xfrm>
            <a:off x="4069080" y="2788920"/>
            <a:ext cx="1645920" cy="457200"/>
          </a:xfrm>
          <a:prstGeom prst="rect">
            <a:avLst/>
          </a:prstGeom>
          <a:noFill/>
          <a:ln/>
        </p:spPr>
        <p:txBody>
          <a:bodyPr wrap="square" lIns="0" tIns="0" rIns="0" bIns="0" rtlCol="0" anchor="ctr"/>
          <a:lstStyle/>
          <a:p>
            <a:pPr algn="l" indent="0" marL="0">
              <a:buNone/>
            </a:pPr>
            <a:r>
              <a:rPr lang="en-US" sz="1500" b="1" dirty="0">
                <a:solidFill>
                  <a:schemeClr val="tx2"/>
                </a:solidFill>
              </a:rPr>
              <a:t>DAO Pattern</a:t>
            </a:r>
            <a:endParaRPr lang="en-US" sz="1500" dirty="0"/>
          </a:p>
        </p:txBody>
      </p:sp>
      <p:sp>
        <p:nvSpPr>
          <p:cNvPr id="18" name="Text 14"/>
          <p:cNvSpPr txBox="1"/>
          <p:nvPr/>
        </p:nvSpPr>
        <p:spPr>
          <a:xfrm>
            <a:off x="3474720" y="3383280"/>
            <a:ext cx="2194560" cy="1143000"/>
          </a:xfrm>
          <a:prstGeom prst="rect">
            <a:avLst/>
          </a:prstGeom>
          <a:noFill/>
          <a:ln/>
        </p:spPr>
        <p:txBody>
          <a:bodyPr wrap="square" lIns="0" tIns="0" rIns="0" bIns="0" rtlCol="0" anchor="t"/>
          <a:lstStyle/>
          <a:p>
            <a:pPr algn="l" indent="0" marL="0">
              <a:buNone/>
            </a:pPr>
            <a:r>
              <a:rPr lang="en-US" sz="1300" dirty="0">
                <a:solidFill>
                  <a:schemeClr val="tx1"/>
                </a:solidFill>
              </a:rPr>
              <a:t>Empat DAO memisahkan akses data dari logika bisnis. PreparedStatement menangkal SQL Injection.</a:t>
            </a:r>
            <a:endParaRPr lang="en-US" sz="1300" dirty="0"/>
          </a:p>
        </p:txBody>
      </p:sp>
      <p:sp>
        <p:nvSpPr>
          <p:cNvPr id="19" name="Kartu Foreign Key Cascade"/>
          <p:cNvSpPr/>
          <p:nvPr/>
        </p:nvSpPr>
        <p:spPr>
          <a:xfrm>
            <a:off x="6126480" y="2651760"/>
            <a:ext cx="2560320" cy="1965960"/>
          </a:xfrm>
          <a:prstGeom prst="roundRect">
            <a:avLst>
              <a:gd name="adj" fmla="val 4651"/>
            </a:avLst>
          </a:prstGeom>
          <a:solidFill>
            <a:schemeClr val="bg2"/>
          </a:solidFill>
          <a:ln w="12700">
            <a:solidFill>
              <a:schemeClr val="bg2"/>
            </a:solidFill>
            <a:prstDash val="solid"/>
          </a:ln>
        </p:spPr>
      </p:sp>
      <p:sp>
        <p:nvSpPr>
          <p:cNvPr id="20" name="Ikon Foreign Key Cascade badge"/>
          <p:cNvSpPr/>
          <p:nvPr/>
        </p:nvSpPr>
        <p:spPr>
          <a:xfrm>
            <a:off x="6309360" y="2788920"/>
            <a:ext cx="457200" cy="457200"/>
          </a:xfrm>
          <a:prstGeom prst="ellipse">
            <a:avLst/>
          </a:prstGeom>
          <a:solidFill>
            <a:schemeClr val="accent5"/>
          </a:solidFill>
          <a:ln w="12700">
            <a:solidFill>
              <a:schemeClr val="accent5"/>
            </a:solidFill>
            <a:prstDash val="solid"/>
          </a:ln>
        </p:spPr>
      </p:sp>
      <p:pic>
        <p:nvPicPr>
          <p:cNvPr id="21" name="Ikon Foreign Key Cascade" descr="Ikon Foreign Key Cascade">    </p:cNvPr>
          <p:cNvPicPr>
            <a:picLocks noChangeAspect="1"/>
          </p:cNvPicPr>
          <p:nvPr/>
        </p:nvPicPr>
        <p:blipFill>
          <a:blip r:embed="rId3"/>
          <a:stretch>
            <a:fillRect/>
          </a:stretch>
        </p:blipFill>
        <p:spPr>
          <a:xfrm>
            <a:off x="6409944" y="2889504"/>
            <a:ext cx="256032" cy="256032"/>
          </a:xfrm>
          <a:prstGeom prst="rect">
            <a:avLst/>
          </a:prstGeom>
        </p:spPr>
      </p:pic>
      <p:sp>
        <p:nvSpPr>
          <p:cNvPr id="22" name="Text 17"/>
          <p:cNvSpPr txBox="1"/>
          <p:nvPr/>
        </p:nvSpPr>
        <p:spPr>
          <a:xfrm>
            <a:off x="6903720" y="2788920"/>
            <a:ext cx="1645920" cy="457200"/>
          </a:xfrm>
          <a:prstGeom prst="rect">
            <a:avLst/>
          </a:prstGeom>
          <a:noFill/>
          <a:ln/>
        </p:spPr>
        <p:txBody>
          <a:bodyPr wrap="square" lIns="0" tIns="0" rIns="0" bIns="0" rtlCol="0" anchor="ctr"/>
          <a:lstStyle/>
          <a:p>
            <a:pPr algn="l" indent="0" marL="0">
              <a:buNone/>
            </a:pPr>
            <a:r>
              <a:rPr lang="en-US" sz="1500" b="1" dirty="0">
                <a:solidFill>
                  <a:schemeClr val="tx2"/>
                </a:solidFill>
              </a:rPr>
              <a:t>Foreign Key Cascade</a:t>
            </a:r>
            <a:endParaRPr lang="en-US" sz="1500" dirty="0"/>
          </a:p>
        </p:txBody>
      </p:sp>
      <p:sp>
        <p:nvSpPr>
          <p:cNvPr id="23" name="Text 18"/>
          <p:cNvSpPr txBox="1"/>
          <p:nvPr/>
        </p:nvSpPr>
        <p:spPr>
          <a:xfrm>
            <a:off x="6309360" y="3383280"/>
            <a:ext cx="2194560" cy="1143000"/>
          </a:xfrm>
          <a:prstGeom prst="rect">
            <a:avLst/>
          </a:prstGeom>
          <a:noFill/>
          <a:ln/>
        </p:spPr>
        <p:txBody>
          <a:bodyPr wrap="square" lIns="0" tIns="0" rIns="0" bIns="0" rtlCol="0" anchor="t"/>
          <a:lstStyle/>
          <a:p>
            <a:pPr algn="l" indent="0" marL="0">
              <a:buNone/>
            </a:pPr>
            <a:r>
              <a:rPr lang="en-US" sz="1300" dirty="0">
                <a:solidFill>
                  <a:schemeClr val="tx1"/>
                </a:solidFill>
              </a:rPr>
              <a:t>Perubahan data induk otomatis menyinkronkan riwayat rekam medis dan transaksi kasir.</a:t>
            </a:r>
            <a:endParaRPr lang="en-US" sz="13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ag rubrik"/>
          <p:cNvSpPr txBox="1"/>
          <p:nvPr/>
        </p:nvSpPr>
        <p:spPr>
          <a:xfrm>
            <a:off x="457200" y="201168"/>
            <a:ext cx="2834640" cy="256032"/>
          </a:xfrm>
          <a:prstGeom prst="roundRect">
            <a:avLst>
              <a:gd name="adj" fmla="val 50000"/>
            </a:avLst>
          </a:prstGeom>
          <a:solidFill>
            <a:schemeClr val="accent1"/>
          </a:solidFill>
          <a:ln/>
        </p:spPr>
        <p:txBody>
          <a:bodyPr wrap="square" lIns="0" tIns="0" rIns="0" bIns="0" rtlCol="0" anchor="ctr"/>
          <a:lstStyle/>
          <a:p>
            <a:pPr algn="ctr" indent="0" marL="0">
              <a:buNone/>
            </a:pPr>
            <a:r>
              <a:rPr lang="en-US" sz="1000" b="1" spc="100" kern="0" dirty="0">
                <a:solidFill>
                  <a:schemeClr val="bg1"/>
                </a:solidFill>
              </a:rPr>
              <a:t>KREATIVITAS &amp; GUI  |  BOBOT 20%</a:t>
            </a:r>
            <a:endParaRPr lang="en-US" sz="1000" dirty="0"/>
          </a:p>
        </p:txBody>
      </p:sp>
      <p:sp>
        <p:nvSpPr>
          <p:cNvPr id="3" name="Text 0"/>
          <p:cNvSpPr/>
          <p:nvPr>
            <p:ph idx="100" type="title" hasCustomPrompt="1"/>
          </p:nvPr>
        </p:nvSpPr>
        <p:spPr>
          <a:xfrm>
            <a:off x="457200" y="502920"/>
            <a:ext cx="8229600" cy="640080"/>
          </a:xfrm>
          <a:prstGeom prst="rect">
            <a:avLst/>
          </a:prstGeom>
          <a:noFill/>
          <a:ln/>
        </p:spPr>
        <p:txBody>
          <a:bodyPr wrap="square" lIns="0" tIns="0" rIns="0" bIns="0" rtlCol="0" anchor="ctr"/>
          <a:lstStyle/>
          <a:p>
            <a:pPr algn="l" indent="0" marL="0">
              <a:buNone/>
            </a:pPr>
            <a:r>
              <a:rPr lang="en-US" sz="3200" b="1" dirty="0">
                <a:solidFill>
                  <a:schemeClr val="bg1"/>
                </a:solidFill>
              </a:rPr>
              <a:t>Fitur Kreatif &amp; Antarmuka GUI</a:t>
            </a:r>
            <a:endParaRPr lang="en-US" sz="3200" dirty="0"/>
          </a:p>
        </p:txBody>
      </p:sp>
      <p:sp>
        <p:nvSpPr>
          <p:cNvPr id="4" name="Kartu fitur 50%"/>
          <p:cNvSpPr/>
          <p:nvPr/>
        </p:nvSpPr>
        <p:spPr>
          <a:xfrm>
            <a:off x="457200" y="1325880"/>
            <a:ext cx="2560320" cy="1691640"/>
          </a:xfrm>
          <a:prstGeom prst="roundRect">
            <a:avLst>
              <a:gd name="adj" fmla="val 5405"/>
            </a:avLst>
          </a:prstGeom>
          <a:solidFill>
            <a:schemeClr val="bg1"/>
          </a:solidFill>
          <a:ln w="12700">
            <a:solidFill>
              <a:schemeClr val="bg1"/>
            </a:solidFill>
            <a:prstDash val="solid"/>
          </a:ln>
        </p:spPr>
      </p:sp>
      <p:sp>
        <p:nvSpPr>
          <p:cNvPr id="5" name="Text 3"/>
          <p:cNvSpPr txBox="1"/>
          <p:nvPr/>
        </p:nvSpPr>
        <p:spPr>
          <a:xfrm>
            <a:off x="640080" y="1463040"/>
            <a:ext cx="2194560" cy="685800"/>
          </a:xfrm>
          <a:prstGeom prst="rect">
            <a:avLst/>
          </a:prstGeom>
          <a:noFill/>
          <a:ln/>
        </p:spPr>
        <p:txBody>
          <a:bodyPr wrap="square" lIns="0" tIns="0" rIns="0" bIns="0" rtlCol="0" anchor="ctr"/>
          <a:lstStyle/>
          <a:p>
            <a:pPr algn="l" indent="0" marL="0">
              <a:buNone/>
            </a:pPr>
            <a:r>
              <a:rPr lang="en-US" sz="3600" b="1" dirty="0">
                <a:solidFill>
                  <a:schemeClr val="accent2"/>
                </a:solidFill>
                <a:latin typeface="Cambria" pitchFamily="34" charset="0"/>
                <a:ea typeface="Cambria" pitchFamily="34" charset="-122"/>
                <a:cs typeface="Cambria" pitchFamily="34" charset="-120"/>
              </a:rPr>
              <a:t>50%</a:t>
            </a:r>
            <a:endParaRPr lang="en-US" sz="3600" dirty="0"/>
          </a:p>
        </p:txBody>
      </p:sp>
      <p:sp>
        <p:nvSpPr>
          <p:cNvPr id="6" name="Text 4"/>
          <p:cNvSpPr txBox="1"/>
          <p:nvPr/>
        </p:nvSpPr>
        <p:spPr>
          <a:xfrm>
            <a:off x="640080" y="2194560"/>
            <a:ext cx="2194560" cy="731520"/>
          </a:xfrm>
          <a:prstGeom prst="rect">
            <a:avLst/>
          </a:prstGeom>
          <a:noFill/>
          <a:ln/>
        </p:spPr>
        <p:txBody>
          <a:bodyPr wrap="square" lIns="0" tIns="0" rIns="0" bIns="0" rtlCol="0" anchor="t"/>
          <a:lstStyle/>
          <a:p>
            <a:pPr algn="l" indent="0" marL="0">
              <a:buNone/>
            </a:pPr>
            <a:r>
              <a:rPr lang="en-US" sz="1400" dirty="0">
                <a:solidFill>
                  <a:schemeClr val="tx1"/>
                </a:solidFill>
              </a:rPr>
              <a:t>Diskon otomatis untuk pasien BPJS aktif</a:t>
            </a:r>
            <a:endParaRPr lang="en-US" sz="1400" dirty="0"/>
          </a:p>
        </p:txBody>
      </p:sp>
      <p:sp>
        <p:nvSpPr>
          <p:cNvPr id="7" name="Kartu fitur Rp 50.000"/>
          <p:cNvSpPr/>
          <p:nvPr/>
        </p:nvSpPr>
        <p:spPr>
          <a:xfrm>
            <a:off x="3291840" y="1325880"/>
            <a:ext cx="2560320" cy="1691640"/>
          </a:xfrm>
          <a:prstGeom prst="roundRect">
            <a:avLst>
              <a:gd name="adj" fmla="val 5405"/>
            </a:avLst>
          </a:prstGeom>
          <a:solidFill>
            <a:schemeClr val="bg1"/>
          </a:solidFill>
          <a:ln w="12700">
            <a:solidFill>
              <a:schemeClr val="bg1"/>
            </a:solidFill>
            <a:prstDash val="solid"/>
          </a:ln>
        </p:spPr>
      </p:sp>
      <p:sp>
        <p:nvSpPr>
          <p:cNvPr id="8" name="Text 6"/>
          <p:cNvSpPr txBox="1"/>
          <p:nvPr/>
        </p:nvSpPr>
        <p:spPr>
          <a:xfrm>
            <a:off x="3474720" y="1463040"/>
            <a:ext cx="2194560" cy="685800"/>
          </a:xfrm>
          <a:prstGeom prst="rect">
            <a:avLst/>
          </a:prstGeom>
          <a:noFill/>
          <a:ln/>
        </p:spPr>
        <p:txBody>
          <a:bodyPr wrap="square" lIns="0" tIns="0" rIns="0" bIns="0" rtlCol="0" anchor="ctr"/>
          <a:lstStyle/>
          <a:p>
            <a:pPr algn="l" indent="0" marL="0">
              <a:buNone/>
            </a:pPr>
            <a:r>
              <a:rPr lang="en-US" sz="3600" b="1" dirty="0">
                <a:solidFill>
                  <a:schemeClr val="accent2"/>
                </a:solidFill>
                <a:latin typeface="Cambria" pitchFamily="34" charset="0"/>
                <a:ea typeface="Cambria" pitchFamily="34" charset="-122"/>
                <a:cs typeface="Cambria" pitchFamily="34" charset="-120"/>
              </a:rPr>
              <a:t>Rp 50.000</a:t>
            </a:r>
            <a:endParaRPr lang="en-US" sz="3600" dirty="0"/>
          </a:p>
        </p:txBody>
      </p:sp>
      <p:sp>
        <p:nvSpPr>
          <p:cNvPr id="9" name="Text 7"/>
          <p:cNvSpPr txBox="1"/>
          <p:nvPr/>
        </p:nvSpPr>
        <p:spPr>
          <a:xfrm>
            <a:off x="3474720" y="2194560"/>
            <a:ext cx="2194560" cy="731520"/>
          </a:xfrm>
          <a:prstGeom prst="rect">
            <a:avLst/>
          </a:prstGeom>
          <a:noFill/>
          <a:ln/>
        </p:spPr>
        <p:txBody>
          <a:bodyPr wrap="square" lIns="0" tIns="0" rIns="0" bIns="0" rtlCol="0" anchor="t"/>
          <a:lstStyle/>
          <a:p>
            <a:pPr algn="l" indent="0" marL="0">
              <a:buNone/>
            </a:pPr>
            <a:r>
              <a:rPr lang="en-US" sz="1400" dirty="0">
                <a:solidFill>
                  <a:schemeClr val="tx1"/>
                </a:solidFill>
              </a:rPr>
              <a:t>Insentif lembur perawat per jam</a:t>
            </a:r>
            <a:endParaRPr lang="en-US" sz="1400" dirty="0"/>
          </a:p>
        </p:txBody>
      </p:sp>
      <p:sp>
        <p:nvSpPr>
          <p:cNvPr id="10" name="Kartu fitur Struk"/>
          <p:cNvSpPr/>
          <p:nvPr/>
        </p:nvSpPr>
        <p:spPr>
          <a:xfrm>
            <a:off x="6126480" y="1325880"/>
            <a:ext cx="2560320" cy="1691640"/>
          </a:xfrm>
          <a:prstGeom prst="roundRect">
            <a:avLst>
              <a:gd name="adj" fmla="val 5405"/>
            </a:avLst>
          </a:prstGeom>
          <a:solidFill>
            <a:schemeClr val="bg1"/>
          </a:solidFill>
          <a:ln w="12700">
            <a:solidFill>
              <a:schemeClr val="bg1"/>
            </a:solidFill>
            <a:prstDash val="solid"/>
          </a:ln>
        </p:spPr>
      </p:sp>
      <p:sp>
        <p:nvSpPr>
          <p:cNvPr id="11" name="Text 9"/>
          <p:cNvSpPr txBox="1"/>
          <p:nvPr/>
        </p:nvSpPr>
        <p:spPr>
          <a:xfrm>
            <a:off x="6309360" y="1463040"/>
            <a:ext cx="2194560" cy="685800"/>
          </a:xfrm>
          <a:prstGeom prst="rect">
            <a:avLst/>
          </a:prstGeom>
          <a:noFill/>
          <a:ln/>
        </p:spPr>
        <p:txBody>
          <a:bodyPr wrap="square" lIns="0" tIns="0" rIns="0" bIns="0" rtlCol="0" anchor="ctr"/>
          <a:lstStyle/>
          <a:p>
            <a:pPr algn="l" indent="0" marL="0">
              <a:buNone/>
            </a:pPr>
            <a:r>
              <a:rPr lang="en-US" sz="3600" b="1" dirty="0">
                <a:solidFill>
                  <a:schemeClr val="accent2"/>
                </a:solidFill>
                <a:latin typeface="Cambria" pitchFamily="34" charset="0"/>
                <a:ea typeface="Cambria" pitchFamily="34" charset="-122"/>
                <a:cs typeface="Cambria" pitchFamily="34" charset="-120"/>
              </a:rPr>
              <a:t>Struk</a:t>
            </a:r>
            <a:endParaRPr lang="en-US" sz="3600" dirty="0"/>
          </a:p>
        </p:txBody>
      </p:sp>
      <p:sp>
        <p:nvSpPr>
          <p:cNvPr id="12" name="Text 10"/>
          <p:cNvSpPr txBox="1"/>
          <p:nvPr/>
        </p:nvSpPr>
        <p:spPr>
          <a:xfrm>
            <a:off x="6309360" y="2194560"/>
            <a:ext cx="2194560" cy="731520"/>
          </a:xfrm>
          <a:prstGeom prst="rect">
            <a:avLst/>
          </a:prstGeom>
          <a:noFill/>
          <a:ln/>
        </p:spPr>
        <p:txBody>
          <a:bodyPr wrap="square" lIns="0" tIns="0" rIns="0" bIns="0" rtlCol="0" anchor="t"/>
          <a:lstStyle/>
          <a:p>
            <a:pPr algn="l" indent="0" marL="0">
              <a:buNone/>
            </a:pPr>
            <a:r>
              <a:rPr lang="en-US" sz="1400" dirty="0">
                <a:solidFill>
                  <a:schemeClr val="tx1"/>
                </a:solidFill>
              </a:rPr>
              <a:t>Cetak bukti pembayaran berformat termal kasir</a:t>
            </a:r>
            <a:endParaRPr lang="en-US" sz="1400" dirty="0"/>
          </a:p>
        </p:txBody>
      </p:sp>
      <p:sp>
        <p:nvSpPr>
          <p:cNvPr id="13" name="Text 11"/>
          <p:cNvSpPr txBox="1"/>
          <p:nvPr/>
        </p:nvSpPr>
        <p:spPr>
          <a:xfrm>
            <a:off x="457200" y="3200400"/>
            <a:ext cx="8229600" cy="274320"/>
          </a:xfrm>
          <a:prstGeom prst="rect">
            <a:avLst/>
          </a:prstGeom>
          <a:noFill/>
          <a:ln/>
        </p:spPr>
        <p:txBody>
          <a:bodyPr wrap="square" lIns="0" tIns="0" rIns="0" bIns="0" rtlCol="0" anchor="t"/>
          <a:lstStyle/>
          <a:p>
            <a:pPr algn="l" indent="0" marL="0">
              <a:buNone/>
            </a:pPr>
            <a:r>
              <a:rPr lang="en-US" sz="1400" b="1" dirty="0">
                <a:solidFill>
                  <a:schemeClr val="bg1"/>
                </a:solidFill>
              </a:rPr>
              <a:t>KlinikMainFrame (Java Swing) dengan 5 tab interaktif</a:t>
            </a:r>
            <a:endParaRPr lang="en-US" sz="1400" dirty="0"/>
          </a:p>
        </p:txBody>
      </p:sp>
      <p:sp>
        <p:nvSpPr>
          <p:cNvPr id="14" name="Tab Dashboard"/>
          <p:cNvSpPr txBox="1"/>
          <p:nvPr/>
        </p:nvSpPr>
        <p:spPr>
          <a:xfrm>
            <a:off x="457200" y="3566160"/>
            <a:ext cx="1554480" cy="457200"/>
          </a:xfrm>
          <a:prstGeom prst="roundRect">
            <a:avLst>
              <a:gd name="adj" fmla="val 16000"/>
            </a:avLst>
          </a:prstGeom>
          <a:solidFill>
            <a:schemeClr val="accent1"/>
          </a:solidFill>
          <a:ln/>
        </p:spPr>
        <p:txBody>
          <a:bodyPr wrap="square" lIns="50800" tIns="50800" rIns="50800" bIns="50800" rtlCol="0" anchor="ctr"/>
          <a:lstStyle/>
          <a:p>
            <a:pPr algn="ctr" indent="0" marL="0">
              <a:buNone/>
            </a:pPr>
            <a:r>
              <a:rPr lang="en-US" sz="1300" b="1" dirty="0">
                <a:solidFill>
                  <a:schemeClr val="bg1"/>
                </a:solidFill>
              </a:rPr>
              <a:t>Dashboard</a:t>
            </a:r>
            <a:endParaRPr lang="en-US" sz="1300" dirty="0"/>
          </a:p>
        </p:txBody>
      </p:sp>
      <p:sp>
        <p:nvSpPr>
          <p:cNvPr id="15" name="Tab Pasien"/>
          <p:cNvSpPr txBox="1"/>
          <p:nvPr/>
        </p:nvSpPr>
        <p:spPr>
          <a:xfrm>
            <a:off x="2125980" y="3566160"/>
            <a:ext cx="1554480" cy="457200"/>
          </a:xfrm>
          <a:prstGeom prst="roundRect">
            <a:avLst>
              <a:gd name="adj" fmla="val 16000"/>
            </a:avLst>
          </a:prstGeom>
          <a:solidFill>
            <a:schemeClr val="accent1"/>
          </a:solidFill>
          <a:ln/>
        </p:spPr>
        <p:txBody>
          <a:bodyPr wrap="square" lIns="50800" tIns="50800" rIns="50800" bIns="50800" rtlCol="0" anchor="ctr"/>
          <a:lstStyle/>
          <a:p>
            <a:pPr algn="ctr" indent="0" marL="0">
              <a:buNone/>
            </a:pPr>
            <a:r>
              <a:rPr lang="en-US" sz="1300" b="1" dirty="0">
                <a:solidFill>
                  <a:schemeClr val="bg1"/>
                </a:solidFill>
              </a:rPr>
              <a:t>Pasien</a:t>
            </a:r>
            <a:endParaRPr lang="en-US" sz="1300" dirty="0"/>
          </a:p>
        </p:txBody>
      </p:sp>
      <p:sp>
        <p:nvSpPr>
          <p:cNvPr id="16" name="Tab Medis"/>
          <p:cNvSpPr txBox="1"/>
          <p:nvPr/>
        </p:nvSpPr>
        <p:spPr>
          <a:xfrm>
            <a:off x="3794760" y="3566160"/>
            <a:ext cx="1554480" cy="457200"/>
          </a:xfrm>
          <a:prstGeom prst="roundRect">
            <a:avLst>
              <a:gd name="adj" fmla="val 16000"/>
            </a:avLst>
          </a:prstGeom>
          <a:solidFill>
            <a:schemeClr val="accent1"/>
          </a:solidFill>
          <a:ln/>
        </p:spPr>
        <p:txBody>
          <a:bodyPr wrap="square" lIns="50800" tIns="50800" rIns="50800" bIns="50800" rtlCol="0" anchor="ctr"/>
          <a:lstStyle/>
          <a:p>
            <a:pPr algn="ctr" indent="0" marL="0">
              <a:buNone/>
            </a:pPr>
            <a:r>
              <a:rPr lang="en-US" sz="1300" b="1" dirty="0">
                <a:solidFill>
                  <a:schemeClr val="bg1"/>
                </a:solidFill>
              </a:rPr>
              <a:t>Medis</a:t>
            </a:r>
            <a:endParaRPr lang="en-US" sz="1300" dirty="0"/>
          </a:p>
        </p:txBody>
      </p:sp>
      <p:sp>
        <p:nvSpPr>
          <p:cNvPr id="17" name="Tab Rekam Medis"/>
          <p:cNvSpPr txBox="1"/>
          <p:nvPr/>
        </p:nvSpPr>
        <p:spPr>
          <a:xfrm>
            <a:off x="5463540" y="3566160"/>
            <a:ext cx="1554480" cy="457200"/>
          </a:xfrm>
          <a:prstGeom prst="roundRect">
            <a:avLst>
              <a:gd name="adj" fmla="val 16000"/>
            </a:avLst>
          </a:prstGeom>
          <a:solidFill>
            <a:schemeClr val="accent1"/>
          </a:solidFill>
          <a:ln/>
        </p:spPr>
        <p:txBody>
          <a:bodyPr wrap="square" lIns="50800" tIns="50800" rIns="50800" bIns="50800" rtlCol="0" anchor="ctr"/>
          <a:lstStyle/>
          <a:p>
            <a:pPr algn="ctr" indent="0" marL="0">
              <a:buNone/>
            </a:pPr>
            <a:r>
              <a:rPr lang="en-US" sz="1300" b="1" dirty="0">
                <a:solidFill>
                  <a:schemeClr val="bg1"/>
                </a:solidFill>
              </a:rPr>
              <a:t>Rekam Medis</a:t>
            </a:r>
            <a:endParaRPr lang="en-US" sz="1300" dirty="0"/>
          </a:p>
        </p:txBody>
      </p:sp>
      <p:sp>
        <p:nvSpPr>
          <p:cNvPr id="18" name="Tab Kasir"/>
          <p:cNvSpPr txBox="1"/>
          <p:nvPr/>
        </p:nvSpPr>
        <p:spPr>
          <a:xfrm>
            <a:off x="7132320" y="3566160"/>
            <a:ext cx="1554480" cy="457200"/>
          </a:xfrm>
          <a:prstGeom prst="roundRect">
            <a:avLst>
              <a:gd name="adj" fmla="val 16000"/>
            </a:avLst>
          </a:prstGeom>
          <a:solidFill>
            <a:schemeClr val="accent1"/>
          </a:solidFill>
          <a:ln/>
        </p:spPr>
        <p:txBody>
          <a:bodyPr wrap="square" lIns="50800" tIns="50800" rIns="50800" bIns="50800" rtlCol="0" anchor="ctr"/>
          <a:lstStyle/>
          <a:p>
            <a:pPr algn="ctr" indent="0" marL="0">
              <a:buNone/>
            </a:pPr>
            <a:r>
              <a:rPr lang="en-US" sz="1300" b="1" dirty="0">
                <a:solidFill>
                  <a:schemeClr val="bg1"/>
                </a:solidFill>
              </a:rPr>
              <a:t>Kasir</a:t>
            </a:r>
            <a:endParaRPr lang="en-US" sz="1300" dirty="0"/>
          </a:p>
        </p:txBody>
      </p:sp>
      <p:sp>
        <p:nvSpPr>
          <p:cNvPr id="19" name="Banner kesimpulan"/>
          <p:cNvSpPr txBox="1"/>
          <p:nvPr/>
        </p:nvSpPr>
        <p:spPr>
          <a:xfrm>
            <a:off x="457200" y="4206240"/>
            <a:ext cx="8229600" cy="457200"/>
          </a:xfrm>
          <a:prstGeom prst="roundRect">
            <a:avLst>
              <a:gd name="adj" fmla="val 16000"/>
            </a:avLst>
          </a:prstGeom>
          <a:solidFill>
            <a:schemeClr val="accent3"/>
          </a:solidFill>
          <a:ln/>
        </p:spPr>
        <p:txBody>
          <a:bodyPr wrap="square" lIns="50800" tIns="50800" rIns="50800" bIns="50800" rtlCol="0" anchor="ctr"/>
          <a:lstStyle/>
          <a:p>
            <a:pPr algn="ctr" indent="0" marL="0">
              <a:buNone/>
            </a:pPr>
            <a:r>
              <a:rPr lang="en-US" sz="1400" b="1" dirty="0">
                <a:solidFill>
                  <a:schemeClr val="tx1"/>
                </a:solidFill>
              </a:rPr>
              <a:t>6 dari 6 skenario uji berjalan tanpa galat. Terima kasih.</a:t>
            </a:r>
            <a:endParaRPr lang="en-US" sz="14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6</a:t>
            </a:fld>
            <a:endParaRPr lang="en-US"/>
          </a:p>
        </p:txBody>
      </p:sp>
    </p:spTree>
  </p:cSld>
  <p:clrMapOvr>
    <a:masterClrMapping/>
  </p:clrMapOvr>
</p:sld>
</file>

<file path=ppt/theme/theme1.xml><?xml version="1.0" encoding="utf-8"?>
<a:theme xmlns:a="http://schemas.openxmlformats.org/drawingml/2006/main" name="Klinik Pratama Sehat">
  <a:themeElements>
    <a:clrScheme name="Klinik Pratama Sehat">
      <a:dk1>
        <a:srgbClr val="1B2A33"/>
      </a:dk1>
      <a:lt1>
        <a:srgbClr val="FFFFFF"/>
      </a:lt1>
      <a:dk2>
        <a:srgbClr val="0F4C5C"/>
      </a:dk2>
      <a:lt2>
        <a:srgbClr val="E8F3F2"/>
      </a:lt2>
      <a:accent1>
        <a:srgbClr val="1A8A8A"/>
      </a:accent1>
      <a:accent2>
        <a:srgbClr val="F26B4F"/>
      </a:accent2>
      <a:accent3>
        <a:srgbClr val="F2B544"/>
      </a:accent3>
      <a:accent4>
        <a:srgbClr val="5B8E9B"/>
      </a:accent4>
      <a:accent5>
        <a:srgbClr val="7A5C99"/>
      </a:accent5>
      <a:accent6>
        <a:srgbClr val="3E8E5A"/>
      </a:accent6>
      <a:hlink>
        <a:srgbClr val="1A8A8A"/>
      </a:hlink>
      <a:folHlink>
        <a:srgbClr val="5B8E9B"/>
      </a:folHlink>
    </a:clrScheme>
    <a:fontScheme name="Klinik Pratama Seha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UTS PBO - Sistem Informasi &amp; Pelayanan Klinik Pratama Sehat PENS</dc:title>
  <dc:subject>PptxGenJS Presentation</dc:subject>
  <dc:creator>Mohamad Zaky Bahtiar Arifianto</dc:creator>
  <cp:lastModifiedBy>Mohamad Zaky Bahtiar Arifianto</cp:lastModifiedBy>
  <cp:revision>1</cp:revision>
  <dcterms:created xsi:type="dcterms:W3CDTF">2026-10-13T03:42:14Z</dcterms:created>
  <dcterms:modified xsi:type="dcterms:W3CDTF">2026-10-13T03:42:14Z</dcterms:modified>
</cp:coreProperties>
</file>